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2.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Found</c:v>
                </c:pt>
              </c:strCache>
            </c:strRef>
          </c:tx>
          <c:spPr>
            <a:solidFill>
              <a:srgbClr val="058C9B"/>
            </a:solidFill>
            <a:effectLst/>
          </c:spPr>
          <c:invertIfNegative val="0"/>
          <c:dLbls>
            <c:numFmt formatCode="0&quot;%&quot;" sourceLinked="0"/>
            <c:txPr>
              <a:bodyPr/>
              <a:lstStyle/>
              <a:p>
                <a:pPr>
                  <a:defRPr b="1" i="0" strike="noStrike" sz="1400" u="none">
                    <a:solidFill>
                      <a:srgbClr val="0E2B33"/>
                    </a:solidFill>
                    <a:latin typeface="Calibri"/>
                  </a:defRPr>
                </a:pPr>
              </a:p>
            </c:txPr>
            <c:showLegendKey val="0"/>
            <c:showVal val="1"/>
            <c:showCatName val="0"/>
            <c:showSerName val="0"/>
            <c:showPercent val="0"/>
            <c:showBubbleSize val="0"/>
            <c:showLeaderLines val="0"/>
          </c:dLbls>
          <c:dPt>
            <c:idx val="0"/>
            <c:invertIfNegative val="0"/>
            <c:bubble3D val="0"/>
            <c:spPr>
              <a:solidFill>
                <a:srgbClr val="058C9B"/>
              </a:solidFill>
              <a:effectLst/>
            </c:spPr>
          </c:dPt>
          <c:dPt>
            <c:idx val="1"/>
            <c:invertIfNegative val="0"/>
            <c:bubble3D val="0"/>
            <c:spPr>
              <a:solidFill>
                <a:srgbClr val="058C9B"/>
              </a:solidFill>
              <a:effectLst/>
            </c:spPr>
          </c:dPt>
          <c:dPt>
            <c:idx val="2"/>
            <c:invertIfNegative val="0"/>
            <c:bubble3D val="0"/>
            <c:spPr>
              <a:solidFill>
                <a:srgbClr val="E8A33D"/>
              </a:solidFill>
              <a:effectLst/>
            </c:spPr>
          </c:dPt>
          <c:dPt>
            <c:idx val="3"/>
            <c:invertIfNegative val="0"/>
            <c:bubble3D val="0"/>
            <c:spPr>
              <a:solidFill>
                <a:srgbClr val="EF6351"/>
              </a:solidFill>
              <a:effectLst/>
            </c:spPr>
          </c:dPt>
          <c:cat>
            <c:multiLvlStrRef>
              <c:f>Sheet1!$A$2:$A$5</c:f>
              <c:multiLvlStrCache>
                <c:ptCount val="4"/>
                <c:lvl>
                  <c:pt idx="0">
                    <c:v>Strong
16-34%</c:v>
                  </c:pt>
                  <c:pt idx="1">
                    <c:v>Moderate
7.5-12%</c:v>
                  </c:pt>
                  <c:pt idx="2">
                    <c:v>Weak
4-6%</c:v>
                  </c:pt>
                  <c:pt idx="3">
                    <c:v>Very weak
1.5-3%</c:v>
                  </c:pt>
                </c:lvl>
              </c:multiLvlStrCache>
            </c:multiLvlStrRef>
          </c:cat>
          <c:val>
            <c:numRef>
              <c:f>Sheet1!$B$2:$B$5</c:f>
              <c:numCache>
                <c:formatCode>General</c:formatCode>
                <c:ptCount val="4"/>
                <c:pt idx="0">
                  <c:v>100</c:v>
                </c:pt>
                <c:pt idx="1">
                  <c:v>100</c:v>
                </c:pt>
                <c:pt idx="2">
                  <c:v>20</c:v>
                </c:pt>
                <c:pt idx="3">
                  <c:v>0</c:v>
                </c:pt>
              </c:numCache>
            </c:numRef>
          </c:val>
        </c:ser>
        <c:dLbls>
          <c:numFmt formatCode="0&quot;%&quot;" sourceLinked="0"/>
          <c:txPr>
            <a:bodyPr/>
            <a:lstStyle/>
            <a:p>
              <a:pPr>
                <a:defRPr b="1" i="0" strike="noStrike" sz="1400" u="none">
                  <a:solidFill>
                    <a:srgbClr val="0E2B33"/>
                  </a:solidFill>
                  <a:latin typeface="Calibri"/>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7480"/>
                </a:solidFill>
                <a:latin typeface="Calibri"/>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12700" cap="flat">
              <a:solidFill>
                <a:srgbClr val="E2E9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7480"/>
                </a:solidFill>
                <a:latin typeface="Calibri"/>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Signals</c:v>
                </c:pt>
              </c:strCache>
            </c:strRef>
          </c:tx>
          <c:spPr>
            <a:solidFill>
              <a:srgbClr val="058C9B"/>
            </a:solidFill>
            <a:effectLst/>
          </c:spPr>
          <c:invertIfNegative val="0"/>
          <c:dLbls>
            <c:numFmt formatCode="#,##0" sourceLinked="0"/>
            <c:txPr>
              <a:bodyPr/>
              <a:lstStyle/>
              <a:p>
                <a:pPr>
                  <a:defRPr b="1" i="0" strike="noStrike" sz="1500" u="none">
                    <a:solidFill>
                      <a:srgbClr val="0E2B33"/>
                    </a:solidFill>
                    <a:latin typeface="Calibri"/>
                  </a:defRPr>
                </a:pPr>
              </a:p>
            </c:txPr>
            <c:showLegendKey val="0"/>
            <c:showVal val="1"/>
            <c:showCatName val="0"/>
            <c:showSerName val="0"/>
            <c:showPercent val="0"/>
            <c:showBubbleSize val="0"/>
            <c:showLeaderLines val="0"/>
          </c:dLbls>
          <c:cat>
            <c:multiLvlStrRef>
              <c:f>Sheet1!$A$2:$A$6</c:f>
              <c:multiLvlStrCache>
                <c:ptCount val="5"/>
                <c:lvl>
                  <c:pt idx="0">
                    <c:v>Same quarter</c:v>
                  </c:pt>
                  <c:pt idx="1">
                    <c:v>1 quarter</c:v>
                  </c:pt>
                  <c:pt idx="2">
                    <c:v>2 quarters</c:v>
                  </c:pt>
                  <c:pt idx="3">
                    <c:v>3-4 quarters</c:v>
                  </c:pt>
                  <c:pt idx="4">
                    <c:v>5+ quarters</c:v>
                  </c:pt>
                </c:lvl>
              </c:multiLvlStrCache>
            </c:multiLvlStrRef>
          </c:cat>
          <c:val>
            <c:numRef>
              <c:f>Sheet1!$B$2:$B$6</c:f>
              <c:numCache>
                <c:formatCode>General</c:formatCode>
                <c:ptCount val="5"/>
                <c:pt idx="0">
                  <c:v>9</c:v>
                </c:pt>
                <c:pt idx="1">
                  <c:v>7</c:v>
                </c:pt>
                <c:pt idx="2">
                  <c:v>6</c:v>
                </c:pt>
                <c:pt idx="3">
                  <c:v>3</c:v>
                </c:pt>
                <c:pt idx="4">
                  <c:v>8</c:v>
                </c:pt>
              </c:numCache>
            </c:numRef>
          </c:val>
        </c:ser>
        <c:dLbls>
          <c:numFmt formatCode="#,##0" sourceLinked="0"/>
          <c:txPr>
            <a:bodyPr/>
            <a:lstStyle/>
            <a:p>
              <a:pPr>
                <a:defRPr b="1" i="0" strike="noStrike" sz="1500" u="none">
                  <a:solidFill>
                    <a:srgbClr val="0E2B33"/>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7480"/>
                </a:solidFill>
                <a:latin typeface="Calibri"/>
              </a:defRPr>
            </a:pPr>
            <a:endParaRPr lang="en-US"/>
          </a:p>
        </c:txPr>
        <c:crossAx val="2094734552"/>
        <c:crosses val="autoZero"/>
        <c:auto val="1"/>
        <c:lblAlgn val="ctr"/>
        <c:noMultiLvlLbl val="1"/>
      </c:catAx>
      <c:valAx>
        <c:axId val="2094734552"/>
        <c:scaling>
          <c:orientation val="minMax"/>
          <c:max val="11"/>
          <c:min val="0"/>
        </c:scaling>
        <c:delete val="0"/>
        <c:axPos val="l"/>
        <c:majorGridlines>
          <c:spPr>
            <a:ln w="12700" cap="flat">
              <a:solidFill>
                <a:srgbClr val="E2E9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748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AEGIS = Adverse Event Global Intelligence System. One line: it reads the FDA's database of reported drug side effects and finds the drug-and-side-effect pairs that show up together far more often than chance would explain.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problem statement. Say it in these words. It reframes the project from 'I implemented a known statistical method' to 'I measured a systemic failure' — which is the difference between a textbook exercise and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gap between trial size and real-world use is the entire reason this field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was public the whole time. The question this project asks: when would a disciplined statistical screen have flagged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third row is the whole analytical difficulty. No denominator.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Interviewers will push on this. The unknown denominator appears on both sides of the ratio and cancels.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stages. Every one is SQL except ingestion, which is thin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published FAERS analyses skip the withdrawn-cases file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dangerous failure mode in the project because it is silent.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strongest thing about the project. Say it early in any interview.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they ask one technical question, hope it is this one. Low base rate is why the naive approach fails and why measuring precision mattered.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say 100% accurate. Say: no false alarms, and a measured detection floor. That is a stronger and more defensible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missed pair still passed 2 of the 3 tests. They fail only the one demanding a LARGE effect - the same rule keeping false alarms at zero. That trade-off is the answer if they push.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Volunteer the caveat in the same breath - a pharmacology-literate interviewer will know adalimumab and apixaban are labelled, and saying it first is the difference between rigour and an overclaim. On real FDA data this same query returns genuine review candidates, each still needing a human pharmacologist.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Best interview answer in the deck. It shows measurement caught something reading the code never would.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Montelukast to nightmare: 1 quarter. Montelukast to depression: 6 quarters. Same drug, same planted strength.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Volunteering limitations is the single most credible thing you can do in a technical interview. Lead with the first one — the corpus is synthetic — before anyone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Volunteering limitations is the single most credible thing you can do in a technical interview. Lead with the first one — the corpus is synthetic — before anyone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one-sentence version. If they remember one thing, make it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3B4C"/>
        </a:solidFill>
      </p:bgPr>
    </p:bg>
    <p:spTree>
      <p:nvGrpSpPr>
        <p:cNvPr id="1" name=""/>
        <p:cNvGrpSpPr/>
        <p:nvPr/>
      </p:nvGrpSpPr>
      <p:grpSpPr>
        <a:xfrm>
          <a:off x="0" y="0"/>
          <a:ext cx="0" cy="0"/>
          <a:chOff x="0" y="0"/>
          <a:chExt cx="0" cy="0"/>
        </a:xfrm>
      </p:grpSpPr>
      <p:sp>
        <p:nvSpPr>
          <p:cNvPr id="2" name="Shape 0"/>
          <p:cNvSpPr/>
          <p:nvPr/>
        </p:nvSpPr>
        <p:spPr>
          <a:xfrm>
            <a:off x="9144000" y="-1371600"/>
            <a:ext cx="5669280" cy="5669280"/>
          </a:xfrm>
          <a:prstGeom prst="ellipse">
            <a:avLst/>
          </a:prstGeom>
          <a:solidFill>
            <a:srgbClr val="0A4A5E"/>
          </a:solidFill>
          <a:ln/>
        </p:spPr>
      </p:sp>
      <p:sp>
        <p:nvSpPr>
          <p:cNvPr id="3" name="Shape 1"/>
          <p:cNvSpPr/>
          <p:nvPr/>
        </p:nvSpPr>
        <p:spPr>
          <a:xfrm>
            <a:off x="10424160" y="3566160"/>
            <a:ext cx="3108960" cy="3108960"/>
          </a:xfrm>
          <a:prstGeom prst="ellipse">
            <a:avLst/>
          </a:prstGeom>
          <a:solidFill>
            <a:srgbClr val="0A4A5E"/>
          </a:solidFill>
          <a:ln/>
        </p:spPr>
      </p:sp>
      <p:sp>
        <p:nvSpPr>
          <p:cNvPr id="4" name="Text 2"/>
          <p:cNvSpPr/>
          <p:nvPr/>
        </p:nvSpPr>
        <p:spPr>
          <a:xfrm>
            <a:off x="822960" y="1828800"/>
            <a:ext cx="8229600" cy="1371600"/>
          </a:xfrm>
          <a:prstGeom prst="rect">
            <a:avLst/>
          </a:prstGeom>
          <a:noFill/>
          <a:ln/>
        </p:spPr>
        <p:txBody>
          <a:bodyPr wrap="square" lIns="0" tIns="0" rIns="0" bIns="0" rtlCol="0" anchor="ctr"/>
          <a:lstStyle/>
          <a:p>
            <a:pPr indent="0" marL="0">
              <a:buNone/>
            </a:pPr>
            <a:r>
              <a:rPr lang="en-US" sz="8800" b="1" spc="100" kern="0" dirty="0">
                <a:solidFill>
                  <a:srgbClr val="FFFFFF"/>
                </a:solidFill>
                <a:latin typeface="Cambria" pitchFamily="34" charset="0"/>
                <a:ea typeface="Cambria" pitchFamily="34" charset="-122"/>
                <a:cs typeface="Cambria" pitchFamily="34" charset="-120"/>
              </a:rPr>
              <a:t>AEGIS</a:t>
            </a:r>
            <a:endParaRPr lang="en-US" sz="8800" dirty="0"/>
          </a:p>
        </p:txBody>
      </p:sp>
      <p:sp>
        <p:nvSpPr>
          <p:cNvPr id="5" name="Text 3"/>
          <p:cNvSpPr/>
          <p:nvPr/>
        </p:nvSpPr>
        <p:spPr>
          <a:xfrm>
            <a:off x="868680" y="3154680"/>
            <a:ext cx="8046720" cy="1554480"/>
          </a:xfrm>
          <a:prstGeom prst="rect">
            <a:avLst/>
          </a:prstGeom>
          <a:noFill/>
          <a:ln/>
        </p:spPr>
        <p:txBody>
          <a:bodyPr wrap="square" lIns="0" tIns="0" rIns="0" bIns="0" rtlCol="0" anchor="ctr"/>
          <a:lstStyle/>
          <a:p>
            <a:pPr indent="0" marL="0">
              <a:lnSpc>
                <a:spcPts val="3600"/>
              </a:lnSpc>
              <a:buNone/>
            </a:pPr>
            <a:r>
              <a:rPr lang="en-US" sz="2600" dirty="0">
                <a:solidFill>
                  <a:srgbClr val="9FD8CB"/>
                </a:solidFill>
                <a:latin typeface="Calibri" pitchFamily="34" charset="0"/>
                <a:ea typeface="Calibri" pitchFamily="34" charset="-122"/>
                <a:cs typeface="Calibri" pitchFamily="34" charset="-120"/>
              </a:rPr>
              <a:t>The evidence is already public.</a:t>
            </a:r>
            <a:endParaRPr lang="en-US" sz="2600" dirty="0"/>
          </a:p>
          <a:p>
            <a:pPr indent="0" marL="0">
              <a:lnSpc>
                <a:spcPts val="3600"/>
              </a:lnSpc>
              <a:buNone/>
            </a:pPr>
            <a:r>
              <a:rPr lang="en-US" sz="2600" dirty="0">
                <a:solidFill>
                  <a:srgbClr val="9FD8CB"/>
                </a:solidFill>
                <a:latin typeface="Calibri" pitchFamily="34" charset="0"/>
                <a:ea typeface="Calibri" pitchFamily="34" charset="-122"/>
                <a:cs typeface="Calibri" pitchFamily="34" charset="-120"/>
              </a:rPr>
              <a:t>How long does it sit there unread?</a:t>
            </a:r>
            <a:endParaRPr lang="en-US" sz="2600" dirty="0"/>
          </a:p>
        </p:txBody>
      </p:sp>
      <p:sp>
        <p:nvSpPr>
          <p:cNvPr id="6" name="Text 4"/>
          <p:cNvSpPr/>
          <p:nvPr/>
        </p:nvSpPr>
        <p:spPr>
          <a:xfrm>
            <a:off x="868680" y="5394960"/>
            <a:ext cx="9144000" cy="365760"/>
          </a:xfrm>
          <a:prstGeom prst="rect">
            <a:avLst/>
          </a:prstGeom>
          <a:noFill/>
          <a:ln/>
        </p:spPr>
        <p:txBody>
          <a:bodyPr wrap="square" lIns="0" tIns="0" rIns="0" bIns="0" rtlCol="0" anchor="ctr"/>
          <a:lstStyle/>
          <a:p>
            <a:pPr indent="0" marL="0">
              <a:buNone/>
            </a:pPr>
            <a:r>
              <a:rPr lang="en-US" sz="1500" dirty="0">
                <a:solidFill>
                  <a:srgbClr val="6E9AA8"/>
                </a:solidFill>
                <a:latin typeface="Calibri" pitchFamily="34" charset="0"/>
                <a:ea typeface="Calibri" pitchFamily="34" charset="-122"/>
                <a:cs typeface="Calibri" pitchFamily="34" charset="-120"/>
              </a:rPr>
              <a:t>Sanjay Salvi  ·  Adverse Event Global Intelligence System</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475488"/>
            <a:ext cx="10515600" cy="292608"/>
          </a:xfrm>
          <a:prstGeom prst="rect">
            <a:avLst/>
          </a:prstGeom>
          <a:noFill/>
          <a:ln/>
        </p:spPr>
        <p:txBody>
          <a:bodyPr wrap="square" lIns="0" tIns="0" rIns="0" bIns="0" rtlCol="0" anchor="ctr"/>
          <a:lstStyle/>
          <a:p>
            <a:pPr indent="0" marL="0">
              <a:buNone/>
            </a:pPr>
            <a:r>
              <a:rPr lang="en-US" sz="1300" b="1" spc="240" kern="0" dirty="0">
                <a:solidFill>
                  <a:srgbClr val="058C9B"/>
                </a:solidFill>
                <a:latin typeface="Calibri" pitchFamily="34" charset="0"/>
                <a:ea typeface="Calibri" pitchFamily="34" charset="-122"/>
                <a:cs typeface="Calibri" pitchFamily="34" charset="-120"/>
              </a:rPr>
              <a:t>THE QUESTION NOBODY ASKS</a:t>
            </a:r>
            <a:endParaRPr lang="en-US" sz="1300" dirty="0"/>
          </a:p>
        </p:txBody>
      </p:sp>
      <p:sp>
        <p:nvSpPr>
          <p:cNvPr id="3" name="Text 1"/>
          <p:cNvSpPr/>
          <p:nvPr/>
        </p:nvSpPr>
        <p:spPr>
          <a:xfrm>
            <a:off x="822960" y="1481328"/>
            <a:ext cx="10515600" cy="2697480"/>
          </a:xfrm>
          <a:prstGeom prst="rect">
            <a:avLst/>
          </a:prstGeom>
          <a:noFill/>
          <a:ln/>
        </p:spPr>
        <p:txBody>
          <a:bodyPr wrap="square" lIns="0" tIns="0" rIns="0" bIns="0" rtlCol="0" anchor="ctr"/>
          <a:lstStyle/>
          <a:p>
            <a:pPr indent="0" marL="0">
              <a:lnSpc>
                <a:spcPts val="4700"/>
              </a:lnSpc>
              <a:buNone/>
            </a:pPr>
            <a:r>
              <a:rPr lang="en-US" sz="3600" b="1" dirty="0">
                <a:solidFill>
                  <a:srgbClr val="0E2B33"/>
                </a:solidFill>
                <a:latin typeface="Cambria" pitchFamily="34" charset="0"/>
                <a:ea typeface="Cambria" pitchFamily="34" charset="-122"/>
                <a:cs typeface="Cambria" pitchFamily="34" charset="-120"/>
              </a:rPr>
              <a:t>Every few months a drug gets
a new safety warning.
</a:t>
            </a:r>
            <a:pPr indent="0" marL="0">
              <a:lnSpc>
                <a:spcPts val="4700"/>
              </a:lnSpc>
              <a:buNone/>
            </a:pPr>
            <a:r>
              <a:rPr lang="en-US" sz="3600" b="1" dirty="0">
                <a:solidFill>
                  <a:srgbClr val="EF6351"/>
                </a:solidFill>
                <a:latin typeface="Cambria" pitchFamily="34" charset="0"/>
                <a:ea typeface="Cambria" pitchFamily="34" charset="-122"/>
                <a:cs typeface="Cambria" pitchFamily="34" charset="-120"/>
              </a:rPr>
              <a:t>Almost every time, the evidence</a:t>
            </a:r>
            <a:endParaRPr lang="en-US" sz="3600" dirty="0"/>
          </a:p>
          <a:p>
            <a:pPr indent="0" marL="0">
              <a:lnSpc>
                <a:spcPts val="4700"/>
              </a:lnSpc>
              <a:buNone/>
            </a:pPr>
            <a:r>
              <a:rPr lang="en-US" sz="3600" b="1" dirty="0">
                <a:solidFill>
                  <a:srgbClr val="EF6351"/>
                </a:solidFill>
                <a:latin typeface="Cambria" pitchFamily="34" charset="0"/>
                <a:ea typeface="Cambria" pitchFamily="34" charset="-122"/>
                <a:cs typeface="Cambria" pitchFamily="34" charset="-120"/>
              </a:rPr>
              <a:t>was already public for years.</a:t>
            </a:r>
            <a:endParaRPr lang="en-US" sz="3600" dirty="0"/>
          </a:p>
        </p:txBody>
      </p:sp>
      <p:sp>
        <p:nvSpPr>
          <p:cNvPr id="4" name="Text 2"/>
          <p:cNvSpPr/>
          <p:nvPr/>
        </p:nvSpPr>
        <p:spPr>
          <a:xfrm>
            <a:off x="868680" y="4370832"/>
            <a:ext cx="9326880" cy="914400"/>
          </a:xfrm>
          <a:prstGeom prst="rect">
            <a:avLst/>
          </a:prstGeom>
          <a:noFill/>
          <a:ln/>
        </p:spPr>
        <p:txBody>
          <a:bodyPr wrap="square" lIns="0" tIns="0" rIns="0" bIns="0" rtlCol="0" anchor="ctr"/>
          <a:lstStyle/>
          <a:p>
            <a:pPr indent="0" marL="0">
              <a:lnSpc>
                <a:spcPts val="2800"/>
              </a:lnSpc>
              <a:buNone/>
            </a:pPr>
            <a:r>
              <a:rPr lang="en-US" sz="1900" dirty="0">
                <a:solidFill>
                  <a:srgbClr val="5B7480"/>
                </a:solidFill>
                <a:latin typeface="Calibri" pitchFamily="34" charset="0"/>
                <a:ea typeface="Calibri" pitchFamily="34" charset="-122"/>
                <a:cs typeface="Calibri" pitchFamily="34" charset="-120"/>
              </a:rPr>
              <a:t>Sitting in a free FDA database. Downloadable by anyone. Nobody was counting it in a way that made the pattern visible.</a:t>
            </a:r>
            <a:endParaRPr lang="en-US" sz="1900" dirty="0"/>
          </a:p>
        </p:txBody>
      </p:sp>
      <p:sp>
        <p:nvSpPr>
          <p:cNvPr id="5" name="Text 3"/>
          <p:cNvSpPr/>
          <p:nvPr/>
        </p:nvSpPr>
        <p:spPr>
          <a:xfrm>
            <a:off x="822960" y="5486400"/>
            <a:ext cx="10515600" cy="640080"/>
          </a:xfrm>
          <a:prstGeom prst="rect">
            <a:avLst/>
          </a:prstGeom>
          <a:noFill/>
          <a:ln/>
        </p:spPr>
        <p:txBody>
          <a:bodyPr wrap="square" lIns="0" tIns="0" rIns="0" bIns="0" rtlCol="0" anchor="ctr"/>
          <a:lstStyle/>
          <a:p>
            <a:pPr indent="0" marL="0">
              <a:buNone/>
            </a:pPr>
            <a:r>
              <a:rPr lang="en-US" sz="2700" b="1" dirty="0">
                <a:solidFill>
                  <a:srgbClr val="073B4C"/>
                </a:solidFill>
                <a:latin typeface="Cambria" pitchFamily="34" charset="0"/>
                <a:ea typeface="Cambria" pitchFamily="34" charset="-122"/>
                <a:cs typeface="Cambria" pitchFamily="34" charset="-120"/>
              </a:rPr>
              <a:t>Nobody measures that gap. This project does.</a:t>
            </a:r>
            <a:endParaRPr lang="en-US" sz="2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475488"/>
            <a:ext cx="10515600" cy="292608"/>
          </a:xfrm>
          <a:prstGeom prst="rect">
            <a:avLst/>
          </a:prstGeom>
          <a:noFill/>
          <a:ln/>
        </p:spPr>
        <p:txBody>
          <a:bodyPr wrap="square" lIns="0" tIns="0" rIns="0" bIns="0" rtlCol="0" anchor="ctr"/>
          <a:lstStyle/>
          <a:p>
            <a:pPr indent="0" marL="0">
              <a:buNone/>
            </a:pPr>
            <a:r>
              <a:rPr lang="en-US" sz="1300" b="1" spc="240" kern="0" dirty="0">
                <a:solidFill>
                  <a:srgbClr val="058C9B"/>
                </a:solidFill>
                <a:latin typeface="Calibri" pitchFamily="34" charset="0"/>
                <a:ea typeface="Calibri" pitchFamily="34" charset="-122"/>
                <a:cs typeface="Calibri" pitchFamily="34" charset="-120"/>
              </a:rPr>
              <a:t>THE PROBLEM</a:t>
            </a:r>
            <a:endParaRPr lang="en-US" sz="1300" dirty="0"/>
          </a:p>
        </p:txBody>
      </p:sp>
      <p:sp>
        <p:nvSpPr>
          <p:cNvPr id="3" name="Text 1"/>
          <p:cNvSpPr/>
          <p:nvPr/>
        </p:nvSpPr>
        <p:spPr>
          <a:xfrm>
            <a:off x="822960" y="1737360"/>
            <a:ext cx="10515600" cy="2194560"/>
          </a:xfrm>
          <a:prstGeom prst="rect">
            <a:avLst/>
          </a:prstGeom>
          <a:noFill/>
          <a:ln/>
        </p:spPr>
        <p:txBody>
          <a:bodyPr wrap="square" lIns="0" tIns="0" rIns="0" bIns="0" rtlCol="0" anchor="ctr"/>
          <a:lstStyle/>
          <a:p>
            <a:pPr indent="0" marL="0">
              <a:lnSpc>
                <a:spcPts val="6000"/>
              </a:lnSpc>
              <a:buNone/>
            </a:pPr>
            <a:r>
              <a:rPr lang="en-US" sz="4600" b="1" dirty="0">
                <a:solidFill>
                  <a:srgbClr val="0E2B33"/>
                </a:solidFill>
                <a:latin typeface="Cambria" pitchFamily="34" charset="0"/>
                <a:ea typeface="Cambria" pitchFamily="34" charset="-122"/>
                <a:cs typeface="Cambria" pitchFamily="34" charset="-120"/>
              </a:rPr>
              <a:t>A new drug is tested on </a:t>
            </a:r>
            <a:pPr indent="0" marL="0">
              <a:lnSpc>
                <a:spcPts val="6000"/>
              </a:lnSpc>
              <a:buNone/>
            </a:pPr>
            <a:r>
              <a:rPr lang="en-US" sz="4600" b="1" dirty="0">
                <a:solidFill>
                  <a:srgbClr val="EF6351"/>
                </a:solidFill>
                <a:latin typeface="Cambria" pitchFamily="34" charset="0"/>
                <a:ea typeface="Cambria" pitchFamily="34" charset="-122"/>
                <a:cs typeface="Cambria" pitchFamily="34" charset="-120"/>
              </a:rPr>
              <a:t>3,000 people</a:t>
            </a:r>
            <a:pPr indent="0" marL="0">
              <a:lnSpc>
                <a:spcPts val="6000"/>
              </a:lnSpc>
              <a:buNone/>
            </a:pPr>
            <a:r>
              <a:rPr lang="en-US" sz="4600" b="1" dirty="0">
                <a:solidFill>
                  <a:srgbClr val="0E2B33"/>
                </a:solidFill>
                <a:latin typeface="Cambria" pitchFamily="34" charset="0"/>
                <a:ea typeface="Cambria" pitchFamily="34" charset="-122"/>
                <a:cs typeface="Cambria" pitchFamily="34" charset="-120"/>
              </a:rPr>
              <a:t>.</a:t>
            </a:r>
            <a:endParaRPr lang="en-US" sz="4600" dirty="0"/>
          </a:p>
          <a:p>
            <a:pPr indent="0" marL="0">
              <a:lnSpc>
                <a:spcPts val="6000"/>
              </a:lnSpc>
              <a:buNone/>
            </a:pPr>
            <a:r>
              <a:rPr lang="en-US" sz="4600" b="1" dirty="0">
                <a:solidFill>
                  <a:srgbClr val="0E2B33"/>
                </a:solidFill>
                <a:latin typeface="Cambria" pitchFamily="34" charset="0"/>
                <a:ea typeface="Cambria" pitchFamily="34" charset="-122"/>
                <a:cs typeface="Cambria" pitchFamily="34" charset="-120"/>
              </a:rPr>
              <a:t>Then it is sold to </a:t>
            </a:r>
            <a:endParaRPr lang="en-US" sz="4600" dirty="0"/>
          </a:p>
          <a:p>
            <a:pPr indent="0" marL="0">
              <a:lnSpc>
                <a:spcPts val="6000"/>
              </a:lnSpc>
              <a:buNone/>
            </a:pPr>
            <a:r>
              <a:rPr lang="en-US" sz="4600" b="1" dirty="0">
                <a:solidFill>
                  <a:srgbClr val="EF6351"/>
                </a:solidFill>
                <a:latin typeface="Cambria" pitchFamily="34" charset="0"/>
                <a:ea typeface="Cambria" pitchFamily="34" charset="-122"/>
                <a:cs typeface="Cambria" pitchFamily="34" charset="-120"/>
              </a:rPr>
              <a:t>10 million</a:t>
            </a:r>
            <a:pPr indent="0" marL="0">
              <a:lnSpc>
                <a:spcPts val="6000"/>
              </a:lnSpc>
              <a:buNone/>
            </a:pPr>
            <a:r>
              <a:rPr lang="en-US" sz="4600" b="1" dirty="0">
                <a:solidFill>
                  <a:srgbClr val="0E2B33"/>
                </a:solidFill>
                <a:latin typeface="Cambria" pitchFamily="34" charset="0"/>
                <a:ea typeface="Cambria" pitchFamily="34" charset="-122"/>
                <a:cs typeface="Cambria" pitchFamily="34" charset="-120"/>
              </a:rPr>
              <a:t>.</a:t>
            </a:r>
            <a:endParaRPr lang="en-US" sz="4600" dirty="0"/>
          </a:p>
        </p:txBody>
      </p:sp>
      <p:sp>
        <p:nvSpPr>
          <p:cNvPr id="4" name="Text 2"/>
          <p:cNvSpPr/>
          <p:nvPr/>
        </p:nvSpPr>
        <p:spPr>
          <a:xfrm>
            <a:off x="868680" y="4206240"/>
            <a:ext cx="8778240" cy="1188720"/>
          </a:xfrm>
          <a:prstGeom prst="rect">
            <a:avLst/>
          </a:prstGeom>
          <a:noFill/>
          <a:ln/>
        </p:spPr>
        <p:txBody>
          <a:bodyPr wrap="square" lIns="0" tIns="0" rIns="0" bIns="0" rtlCol="0" anchor="ctr"/>
          <a:lstStyle/>
          <a:p>
            <a:pPr indent="0" marL="0">
              <a:lnSpc>
                <a:spcPts val="3000"/>
              </a:lnSpc>
              <a:buNone/>
            </a:pPr>
            <a:r>
              <a:rPr lang="en-US" sz="2000" dirty="0">
                <a:solidFill>
                  <a:srgbClr val="5B7480"/>
                </a:solidFill>
                <a:latin typeface="Calibri" pitchFamily="34" charset="0"/>
                <a:ea typeface="Calibri" pitchFamily="34" charset="-122"/>
                <a:cs typeface="Calibri" pitchFamily="34" charset="-120"/>
              </a:rPr>
              <a:t>Anything rarer than about 1 in 1,000 is invisible during trials. It only appears once the drug is on the market — in reports filed by doctors, pharmacists and patients.</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475488"/>
            <a:ext cx="10515600" cy="292608"/>
          </a:xfrm>
          <a:prstGeom prst="rect">
            <a:avLst/>
          </a:prstGeom>
          <a:noFill/>
          <a:ln/>
        </p:spPr>
        <p:txBody>
          <a:bodyPr wrap="square" lIns="0" tIns="0" rIns="0" bIns="0" rtlCol="0" anchor="ctr"/>
          <a:lstStyle/>
          <a:p>
            <a:pPr indent="0" marL="0">
              <a:buNone/>
            </a:pPr>
            <a:r>
              <a:rPr lang="en-US" sz="1300" b="1" spc="240" kern="0" dirty="0">
                <a:solidFill>
                  <a:srgbClr val="058C9B"/>
                </a:solidFill>
                <a:latin typeface="Calibri" pitchFamily="34" charset="0"/>
                <a:ea typeface="Calibri" pitchFamily="34" charset="-122"/>
                <a:cs typeface="Calibri" pitchFamily="34" charset="-120"/>
              </a:rPr>
              <a:t>THIS IS NOT HYPOTHETICAL</a:t>
            </a:r>
            <a:endParaRPr lang="en-US" sz="1300" dirty="0"/>
          </a:p>
        </p:txBody>
      </p:sp>
      <p:sp>
        <p:nvSpPr>
          <p:cNvPr id="3" name="Text 1"/>
          <p:cNvSpPr/>
          <p:nvPr/>
        </p:nvSpPr>
        <p:spPr>
          <a:xfrm>
            <a:off x="822960" y="868680"/>
            <a:ext cx="10515600" cy="1051560"/>
          </a:xfrm>
          <a:prstGeom prst="rect">
            <a:avLst/>
          </a:prstGeom>
          <a:noFill/>
          <a:ln/>
        </p:spPr>
        <p:txBody>
          <a:bodyPr wrap="square" lIns="0" tIns="0" rIns="0" bIns="0" rtlCol="0" anchor="t"/>
          <a:lstStyle/>
          <a:p>
            <a:pPr indent="0" marL="0">
              <a:buNone/>
            </a:pPr>
            <a:r>
              <a:rPr lang="en-US" sz="4000" b="1" dirty="0">
                <a:solidFill>
                  <a:srgbClr val="0E2B33"/>
                </a:solidFill>
                <a:latin typeface="Cambria" pitchFamily="34" charset="0"/>
                <a:ea typeface="Cambria" pitchFamily="34" charset="-122"/>
                <a:cs typeface="Cambria" pitchFamily="34" charset="-120"/>
              </a:rPr>
              <a:t>Montelukast</a:t>
            </a:r>
            <a:endParaRPr lang="en-US" sz="4000" dirty="0"/>
          </a:p>
        </p:txBody>
      </p:sp>
      <p:sp>
        <p:nvSpPr>
          <p:cNvPr id="4" name="Text 2"/>
          <p:cNvSpPr/>
          <p:nvPr/>
        </p:nvSpPr>
        <p:spPr>
          <a:xfrm>
            <a:off x="822960" y="1874520"/>
            <a:ext cx="6583680" cy="731520"/>
          </a:xfrm>
          <a:prstGeom prst="rect">
            <a:avLst/>
          </a:prstGeom>
          <a:noFill/>
          <a:ln/>
        </p:spPr>
        <p:txBody>
          <a:bodyPr wrap="square" lIns="0" tIns="0" rIns="0" bIns="0" rtlCol="0" anchor="ctr"/>
          <a:lstStyle/>
          <a:p>
            <a:pPr indent="0" marL="0">
              <a:lnSpc>
                <a:spcPts val="2800"/>
              </a:lnSpc>
              <a:buNone/>
            </a:pPr>
            <a:r>
              <a:rPr lang="en-US" sz="2000" dirty="0">
                <a:solidFill>
                  <a:srgbClr val="5B7480"/>
                </a:solidFill>
                <a:latin typeface="Calibri" pitchFamily="34" charset="0"/>
                <a:ea typeface="Calibri" pitchFamily="34" charset="-122"/>
                <a:cs typeface="Calibri" pitchFamily="34" charset="-120"/>
              </a:rPr>
              <a:t>A very common asthma and allergy drug. Widely prescribed to children.</a:t>
            </a:r>
            <a:endParaRPr lang="en-US" sz="2000" dirty="0"/>
          </a:p>
        </p:txBody>
      </p:sp>
      <p:sp>
        <p:nvSpPr>
          <p:cNvPr id="5" name="Shape 3"/>
          <p:cNvSpPr/>
          <p:nvPr/>
        </p:nvSpPr>
        <p:spPr>
          <a:xfrm>
            <a:off x="822960" y="2788920"/>
            <a:ext cx="5029200" cy="2743200"/>
          </a:xfrm>
          <a:prstGeom prst="roundRect">
            <a:avLst>
              <a:gd name="adj" fmla="val 4000"/>
            </a:avLst>
          </a:prstGeom>
          <a:solidFill>
            <a:srgbClr val="F1F5F6"/>
          </a:solidFill>
          <a:ln/>
          <a:effectLst>
            <a:outerShdw sx="100000" sy="100000" kx="0" ky="0" algn="bl" rotWithShape="0" blurRad="127000" dist="635" dir="5400000">
              <a:srgbClr val="9AAEB5">
                <a:alpha val="35000"/>
              </a:srgbClr>
            </a:outerShdw>
          </a:effectLst>
        </p:spPr>
      </p:sp>
      <p:sp>
        <p:nvSpPr>
          <p:cNvPr id="6" name="Text 4"/>
          <p:cNvSpPr/>
          <p:nvPr/>
        </p:nvSpPr>
        <p:spPr>
          <a:xfrm>
            <a:off x="1188720" y="3063240"/>
            <a:ext cx="4297680" cy="822960"/>
          </a:xfrm>
          <a:prstGeom prst="rect">
            <a:avLst/>
          </a:prstGeom>
          <a:noFill/>
          <a:ln/>
        </p:spPr>
        <p:txBody>
          <a:bodyPr wrap="square" lIns="0" tIns="0" rIns="0" bIns="0" rtlCol="0" anchor="ctr"/>
          <a:lstStyle/>
          <a:p>
            <a:pPr indent="0" marL="0">
              <a:buNone/>
            </a:pPr>
            <a:r>
              <a:rPr lang="en-US" sz="5400" b="1" dirty="0">
                <a:solidFill>
                  <a:srgbClr val="EF6351"/>
                </a:solidFill>
                <a:latin typeface="Cambria" pitchFamily="34" charset="0"/>
                <a:ea typeface="Cambria" pitchFamily="34" charset="-122"/>
                <a:cs typeface="Cambria" pitchFamily="34" charset="-120"/>
              </a:rPr>
              <a:t>2020</a:t>
            </a:r>
            <a:endParaRPr lang="en-US" sz="5400" dirty="0"/>
          </a:p>
        </p:txBody>
      </p:sp>
      <p:sp>
        <p:nvSpPr>
          <p:cNvPr id="7" name="Text 5"/>
          <p:cNvSpPr/>
          <p:nvPr/>
        </p:nvSpPr>
        <p:spPr>
          <a:xfrm>
            <a:off x="1188720" y="3977640"/>
            <a:ext cx="4297680" cy="1371600"/>
          </a:xfrm>
          <a:prstGeom prst="rect">
            <a:avLst/>
          </a:prstGeom>
          <a:noFill/>
          <a:ln/>
        </p:spPr>
        <p:txBody>
          <a:bodyPr wrap="square" lIns="0" tIns="0" rIns="0" bIns="0" rtlCol="0" anchor="ctr"/>
          <a:lstStyle/>
          <a:p>
            <a:pPr indent="0" marL="0">
              <a:lnSpc>
                <a:spcPts val="2400"/>
              </a:lnSpc>
              <a:buNone/>
            </a:pPr>
            <a:r>
              <a:rPr lang="en-US" sz="1600" dirty="0">
                <a:solidFill>
                  <a:srgbClr val="0E2B33"/>
                </a:solidFill>
                <a:latin typeface="Calibri" pitchFamily="34" charset="0"/>
                <a:ea typeface="Calibri" pitchFamily="34" charset="-122"/>
                <a:cs typeface="Calibri" pitchFamily="34" charset="-120"/>
              </a:rPr>
              <a:t>The FDA added its strongest possible warning — a boxed warning — for serious mental-health side effects, including suicidal thinking.</a:t>
            </a:r>
            <a:endParaRPr lang="en-US" sz="1600" dirty="0"/>
          </a:p>
        </p:txBody>
      </p:sp>
      <p:sp>
        <p:nvSpPr>
          <p:cNvPr id="8" name="Shape 6"/>
          <p:cNvSpPr/>
          <p:nvPr/>
        </p:nvSpPr>
        <p:spPr>
          <a:xfrm>
            <a:off x="6309360" y="2788920"/>
            <a:ext cx="5029200" cy="2743200"/>
          </a:xfrm>
          <a:prstGeom prst="roundRect">
            <a:avLst>
              <a:gd name="adj" fmla="val 4000"/>
            </a:avLst>
          </a:prstGeom>
          <a:solidFill>
            <a:srgbClr val="F1F5F6"/>
          </a:solidFill>
          <a:ln/>
          <a:effectLst>
            <a:outerShdw sx="100000" sy="100000" kx="0" ky="0" algn="bl" rotWithShape="0" blurRad="127000" dist="635" dir="5400000">
              <a:srgbClr val="9AAEB5">
                <a:alpha val="35000"/>
              </a:srgbClr>
            </a:outerShdw>
          </a:effectLst>
        </p:spPr>
      </p:sp>
      <p:sp>
        <p:nvSpPr>
          <p:cNvPr id="9" name="Text 7"/>
          <p:cNvSpPr/>
          <p:nvPr/>
        </p:nvSpPr>
        <p:spPr>
          <a:xfrm>
            <a:off x="6675120" y="3063240"/>
            <a:ext cx="4297680" cy="822960"/>
          </a:xfrm>
          <a:prstGeom prst="rect">
            <a:avLst/>
          </a:prstGeom>
          <a:noFill/>
          <a:ln/>
        </p:spPr>
        <p:txBody>
          <a:bodyPr wrap="square" lIns="0" tIns="0" rIns="0" bIns="0" rtlCol="0" anchor="ctr"/>
          <a:lstStyle/>
          <a:p>
            <a:pPr indent="0" marL="0">
              <a:buNone/>
            </a:pPr>
            <a:r>
              <a:rPr lang="en-US" sz="3400" b="1" dirty="0">
                <a:solidFill>
                  <a:srgbClr val="058C9B"/>
                </a:solidFill>
                <a:latin typeface="Cambria" pitchFamily="34" charset="0"/>
                <a:ea typeface="Cambria" pitchFamily="34" charset="-122"/>
                <a:cs typeface="Cambria" pitchFamily="34" charset="-120"/>
              </a:rPr>
              <a:t>Years earlier</a:t>
            </a:r>
            <a:endParaRPr lang="en-US" sz="3400" dirty="0"/>
          </a:p>
        </p:txBody>
      </p:sp>
      <p:sp>
        <p:nvSpPr>
          <p:cNvPr id="10" name="Text 8"/>
          <p:cNvSpPr/>
          <p:nvPr/>
        </p:nvSpPr>
        <p:spPr>
          <a:xfrm>
            <a:off x="6675120" y="3977640"/>
            <a:ext cx="4297680" cy="1371600"/>
          </a:xfrm>
          <a:prstGeom prst="rect">
            <a:avLst/>
          </a:prstGeom>
          <a:noFill/>
          <a:ln/>
        </p:spPr>
        <p:txBody>
          <a:bodyPr wrap="square" lIns="0" tIns="0" rIns="0" bIns="0" rtlCol="0" anchor="ctr"/>
          <a:lstStyle/>
          <a:p>
            <a:pPr indent="0" marL="0">
              <a:lnSpc>
                <a:spcPts val="2400"/>
              </a:lnSpc>
              <a:buNone/>
            </a:pPr>
            <a:r>
              <a:rPr lang="en-US" sz="1600" dirty="0">
                <a:solidFill>
                  <a:srgbClr val="0E2B33"/>
                </a:solidFill>
                <a:latin typeface="Calibri" pitchFamily="34" charset="0"/>
                <a:ea typeface="Calibri" pitchFamily="34" charset="-122"/>
                <a:cs typeface="Calibri" pitchFamily="34" charset="-120"/>
              </a:rPr>
              <a:t>The reports describing exactly that pattern were already sitting in the FDA's public database — just never counted in a way that made the pattern visible.</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475488"/>
            <a:ext cx="10515600" cy="292608"/>
          </a:xfrm>
          <a:prstGeom prst="rect">
            <a:avLst/>
          </a:prstGeom>
          <a:noFill/>
          <a:ln/>
        </p:spPr>
        <p:txBody>
          <a:bodyPr wrap="square" lIns="0" tIns="0" rIns="0" bIns="0" rtlCol="0" anchor="ctr"/>
          <a:lstStyle/>
          <a:p>
            <a:pPr indent="0" marL="0">
              <a:buNone/>
            </a:pPr>
            <a:r>
              <a:rPr lang="en-US" sz="1300" b="1" spc="240" kern="0" dirty="0">
                <a:solidFill>
                  <a:srgbClr val="058C9B"/>
                </a:solidFill>
                <a:latin typeface="Calibri" pitchFamily="34" charset="0"/>
                <a:ea typeface="Calibri" pitchFamily="34" charset="-122"/>
                <a:cs typeface="Calibri" pitchFamily="34" charset="-120"/>
              </a:rPr>
              <a:t>THE RAW MATERIAL</a:t>
            </a:r>
            <a:endParaRPr lang="en-US" sz="1300" dirty="0"/>
          </a:p>
        </p:txBody>
      </p:sp>
      <p:sp>
        <p:nvSpPr>
          <p:cNvPr id="3" name="Text 1"/>
          <p:cNvSpPr/>
          <p:nvPr/>
        </p:nvSpPr>
        <p:spPr>
          <a:xfrm>
            <a:off x="822960" y="868680"/>
            <a:ext cx="10515600" cy="1051560"/>
          </a:xfrm>
          <a:prstGeom prst="rect">
            <a:avLst/>
          </a:prstGeom>
          <a:noFill/>
          <a:ln/>
        </p:spPr>
        <p:txBody>
          <a:bodyPr wrap="square" lIns="0" tIns="0" rIns="0" bIns="0" rtlCol="0" anchor="t"/>
          <a:lstStyle/>
          <a:p>
            <a:pPr indent="0" marL="0">
              <a:buNone/>
            </a:pPr>
            <a:r>
              <a:rPr lang="en-US" sz="4000" b="1" dirty="0">
                <a:solidFill>
                  <a:srgbClr val="0E2B33"/>
                </a:solidFill>
                <a:latin typeface="Cambria" pitchFamily="34" charset="0"/>
                <a:ea typeface="Cambria" pitchFamily="34" charset="-122"/>
                <a:cs typeface="Cambria" pitchFamily="34" charset="-120"/>
              </a:rPr>
              <a:t>FAERS</a:t>
            </a:r>
            <a:endParaRPr lang="en-US" sz="4000" dirty="0"/>
          </a:p>
        </p:txBody>
      </p:sp>
      <p:sp>
        <p:nvSpPr>
          <p:cNvPr id="4" name="Text 2"/>
          <p:cNvSpPr/>
          <p:nvPr/>
        </p:nvSpPr>
        <p:spPr>
          <a:xfrm>
            <a:off x="822960" y="1874520"/>
            <a:ext cx="9601200" cy="731520"/>
          </a:xfrm>
          <a:prstGeom prst="rect">
            <a:avLst/>
          </a:prstGeom>
          <a:noFill/>
          <a:ln/>
        </p:spPr>
        <p:txBody>
          <a:bodyPr wrap="square" lIns="0" tIns="0" rIns="0" bIns="0" rtlCol="0" anchor="ctr"/>
          <a:lstStyle/>
          <a:p>
            <a:pPr indent="0" marL="0">
              <a:lnSpc>
                <a:spcPts val="2800"/>
              </a:lnSpc>
              <a:buNone/>
            </a:pPr>
            <a:r>
              <a:rPr lang="en-US" sz="2000" dirty="0">
                <a:solidFill>
                  <a:srgbClr val="5B7480"/>
                </a:solidFill>
                <a:latin typeface="Calibri" pitchFamily="34" charset="0"/>
                <a:ea typeface="Calibri" pitchFamily="34" charset="-122"/>
                <a:cs typeface="Calibri" pitchFamily="34" charset="-120"/>
              </a:rPr>
              <a:t>The FDA's public database of reported drug side effects. Over 20 million reports.</a:t>
            </a:r>
            <a:endParaRPr lang="en-US" sz="2000" dirty="0"/>
          </a:p>
        </p:txBody>
      </p:sp>
      <p:sp>
        <p:nvSpPr>
          <p:cNvPr id="5" name="Shape 3"/>
          <p:cNvSpPr/>
          <p:nvPr/>
        </p:nvSpPr>
        <p:spPr>
          <a:xfrm>
            <a:off x="822960" y="2880360"/>
            <a:ext cx="566928" cy="566928"/>
          </a:xfrm>
          <a:prstGeom prst="ellipse">
            <a:avLst/>
          </a:prstGeom>
          <a:solidFill>
            <a:srgbClr val="058C9B"/>
          </a:solidFill>
          <a:ln/>
        </p:spPr>
      </p:sp>
      <p:sp>
        <p:nvSpPr>
          <p:cNvPr id="6" name="Text 4"/>
          <p:cNvSpPr/>
          <p:nvPr/>
        </p:nvSpPr>
        <p:spPr>
          <a:xfrm>
            <a:off x="822960" y="28803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Text 5"/>
          <p:cNvSpPr/>
          <p:nvPr/>
        </p:nvSpPr>
        <p:spPr>
          <a:xfrm>
            <a:off x="1600200" y="2880360"/>
            <a:ext cx="3291840" cy="566928"/>
          </a:xfrm>
          <a:prstGeom prst="rect">
            <a:avLst/>
          </a:prstGeom>
          <a:noFill/>
          <a:ln/>
        </p:spPr>
        <p:txBody>
          <a:bodyPr wrap="square" lIns="0" tIns="0" rIns="0" bIns="0" rtlCol="0" anchor="ctr"/>
          <a:lstStyle/>
          <a:p>
            <a:pPr indent="0" marL="0">
              <a:buNone/>
            </a:pPr>
            <a:r>
              <a:rPr lang="en-US" sz="1700" b="1" dirty="0">
                <a:solidFill>
                  <a:srgbClr val="0E2B33"/>
                </a:solidFill>
                <a:latin typeface="Calibri" pitchFamily="34" charset="0"/>
                <a:ea typeface="Calibri" pitchFamily="34" charset="-122"/>
                <a:cs typeface="Calibri" pitchFamily="34" charset="-120"/>
              </a:rPr>
              <a:t>Who files them</a:t>
            </a:r>
            <a:endParaRPr lang="en-US" sz="1700" dirty="0"/>
          </a:p>
        </p:txBody>
      </p:sp>
      <p:sp>
        <p:nvSpPr>
          <p:cNvPr id="8" name="Text 6"/>
          <p:cNvSpPr/>
          <p:nvPr/>
        </p:nvSpPr>
        <p:spPr>
          <a:xfrm>
            <a:off x="5029200" y="2880360"/>
            <a:ext cx="6309360" cy="566928"/>
          </a:xfrm>
          <a:prstGeom prst="rect">
            <a:avLst/>
          </a:prstGeom>
          <a:noFill/>
          <a:ln/>
        </p:spPr>
        <p:txBody>
          <a:bodyPr wrap="square" lIns="0" tIns="0" rIns="0" bIns="0" rtlCol="0" anchor="ctr"/>
          <a:lstStyle/>
          <a:p>
            <a:pPr indent="0" marL="0">
              <a:buNone/>
            </a:pPr>
            <a:r>
              <a:rPr lang="en-US" sz="1700" dirty="0">
                <a:solidFill>
                  <a:srgbClr val="5B7480"/>
                </a:solidFill>
                <a:latin typeface="Calibri" pitchFamily="34" charset="0"/>
                <a:ea typeface="Calibri" pitchFamily="34" charset="-122"/>
                <a:cs typeface="Calibri" pitchFamily="34" charset="-120"/>
              </a:rPr>
              <a:t>Doctors, pharmacists, patients, drug companies</a:t>
            </a:r>
            <a:endParaRPr lang="en-US" sz="1700" dirty="0"/>
          </a:p>
        </p:txBody>
      </p:sp>
      <p:sp>
        <p:nvSpPr>
          <p:cNvPr id="9" name="Shape 7"/>
          <p:cNvSpPr/>
          <p:nvPr/>
        </p:nvSpPr>
        <p:spPr>
          <a:xfrm>
            <a:off x="822960" y="4023360"/>
            <a:ext cx="566928" cy="566928"/>
          </a:xfrm>
          <a:prstGeom prst="ellipse">
            <a:avLst/>
          </a:prstGeom>
          <a:solidFill>
            <a:srgbClr val="058C9B"/>
          </a:solidFill>
          <a:ln/>
        </p:spPr>
      </p:sp>
      <p:sp>
        <p:nvSpPr>
          <p:cNvPr id="10" name="Text 8"/>
          <p:cNvSpPr/>
          <p:nvPr/>
        </p:nvSpPr>
        <p:spPr>
          <a:xfrm>
            <a:off x="822960" y="40233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1" name="Text 9"/>
          <p:cNvSpPr/>
          <p:nvPr/>
        </p:nvSpPr>
        <p:spPr>
          <a:xfrm>
            <a:off x="1600200" y="4023360"/>
            <a:ext cx="3291840" cy="566928"/>
          </a:xfrm>
          <a:prstGeom prst="rect">
            <a:avLst/>
          </a:prstGeom>
          <a:noFill/>
          <a:ln/>
        </p:spPr>
        <p:txBody>
          <a:bodyPr wrap="square" lIns="0" tIns="0" rIns="0" bIns="0" rtlCol="0" anchor="ctr"/>
          <a:lstStyle/>
          <a:p>
            <a:pPr indent="0" marL="0">
              <a:buNone/>
            </a:pPr>
            <a:r>
              <a:rPr lang="en-US" sz="1700" b="1" dirty="0">
                <a:solidFill>
                  <a:srgbClr val="0E2B33"/>
                </a:solidFill>
                <a:latin typeface="Calibri" pitchFamily="34" charset="0"/>
                <a:ea typeface="Calibri" pitchFamily="34" charset="-122"/>
                <a:cs typeface="Calibri" pitchFamily="34" charset="-120"/>
              </a:rPr>
              <a:t>What each says</a:t>
            </a:r>
            <a:endParaRPr lang="en-US" sz="1700" dirty="0"/>
          </a:p>
        </p:txBody>
      </p:sp>
      <p:sp>
        <p:nvSpPr>
          <p:cNvPr id="12" name="Text 10"/>
          <p:cNvSpPr/>
          <p:nvPr/>
        </p:nvSpPr>
        <p:spPr>
          <a:xfrm>
            <a:off x="5029200" y="4023360"/>
            <a:ext cx="6309360" cy="566928"/>
          </a:xfrm>
          <a:prstGeom prst="rect">
            <a:avLst/>
          </a:prstGeom>
          <a:noFill/>
          <a:ln/>
        </p:spPr>
        <p:txBody>
          <a:bodyPr wrap="square" lIns="0" tIns="0" rIns="0" bIns="0" rtlCol="0" anchor="ctr"/>
          <a:lstStyle/>
          <a:p>
            <a:pPr indent="0" marL="0">
              <a:buNone/>
            </a:pPr>
            <a:r>
              <a:rPr lang="en-US" sz="1700" dirty="0">
                <a:solidFill>
                  <a:srgbClr val="5B7480"/>
                </a:solidFill>
                <a:latin typeface="Calibri" pitchFamily="34" charset="0"/>
                <a:ea typeface="Calibri" pitchFamily="34" charset="-122"/>
                <a:cs typeface="Calibri" pitchFamily="34" charset="-120"/>
              </a:rPr>
              <a:t>This patient took these drugs and had these reactions</a:t>
            </a:r>
            <a:endParaRPr lang="en-US" sz="1700" dirty="0"/>
          </a:p>
        </p:txBody>
      </p:sp>
      <p:sp>
        <p:nvSpPr>
          <p:cNvPr id="13" name="Shape 11"/>
          <p:cNvSpPr/>
          <p:nvPr/>
        </p:nvSpPr>
        <p:spPr>
          <a:xfrm>
            <a:off x="822960" y="5166360"/>
            <a:ext cx="566928" cy="566928"/>
          </a:xfrm>
          <a:prstGeom prst="ellipse">
            <a:avLst/>
          </a:prstGeom>
          <a:solidFill>
            <a:srgbClr val="EF6351"/>
          </a:solidFill>
          <a:ln/>
        </p:spPr>
      </p:sp>
      <p:sp>
        <p:nvSpPr>
          <p:cNvPr id="14" name="Text 12"/>
          <p:cNvSpPr/>
          <p:nvPr/>
        </p:nvSpPr>
        <p:spPr>
          <a:xfrm>
            <a:off x="822960" y="51663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5" name="Text 13"/>
          <p:cNvSpPr/>
          <p:nvPr/>
        </p:nvSpPr>
        <p:spPr>
          <a:xfrm>
            <a:off x="1600200" y="5166360"/>
            <a:ext cx="3291840" cy="566928"/>
          </a:xfrm>
          <a:prstGeom prst="rect">
            <a:avLst/>
          </a:prstGeom>
          <a:noFill/>
          <a:ln/>
        </p:spPr>
        <p:txBody>
          <a:bodyPr wrap="square" lIns="0" tIns="0" rIns="0" bIns="0" rtlCol="0" anchor="ctr"/>
          <a:lstStyle/>
          <a:p>
            <a:pPr indent="0" marL="0">
              <a:buNone/>
            </a:pPr>
            <a:r>
              <a:rPr lang="en-US" sz="1700" b="1" dirty="0">
                <a:solidFill>
                  <a:srgbClr val="EF6351"/>
                </a:solidFill>
                <a:latin typeface="Calibri" pitchFamily="34" charset="0"/>
                <a:ea typeface="Calibri" pitchFamily="34" charset="-122"/>
                <a:cs typeface="Calibri" pitchFamily="34" charset="-120"/>
              </a:rPr>
              <a:t>What it does NOT say</a:t>
            </a:r>
            <a:endParaRPr lang="en-US" sz="1700" dirty="0"/>
          </a:p>
        </p:txBody>
      </p:sp>
      <p:sp>
        <p:nvSpPr>
          <p:cNvPr id="16" name="Text 14"/>
          <p:cNvSpPr/>
          <p:nvPr/>
        </p:nvSpPr>
        <p:spPr>
          <a:xfrm>
            <a:off x="5029200" y="5166360"/>
            <a:ext cx="6309360" cy="566928"/>
          </a:xfrm>
          <a:prstGeom prst="rect">
            <a:avLst/>
          </a:prstGeom>
          <a:noFill/>
          <a:ln/>
        </p:spPr>
        <p:txBody>
          <a:bodyPr wrap="square" lIns="0" tIns="0" rIns="0" bIns="0" rtlCol="0" anchor="ctr"/>
          <a:lstStyle/>
          <a:p>
            <a:pPr indent="0" marL="0">
              <a:buNone/>
            </a:pPr>
            <a:r>
              <a:rPr lang="en-US" sz="1700" dirty="0">
                <a:solidFill>
                  <a:srgbClr val="5B7480"/>
                </a:solidFill>
                <a:latin typeface="Calibri" pitchFamily="34" charset="0"/>
                <a:ea typeface="Calibri" pitchFamily="34" charset="-122"/>
                <a:cs typeface="Calibri" pitchFamily="34" charset="-120"/>
              </a:rPr>
              <a:t>How many people took the drug and were fine</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3B4C"/>
        </a:solidFill>
      </p:bgPr>
    </p:bg>
    <p:spTree>
      <p:nvGrpSpPr>
        <p:cNvPr id="1" name=""/>
        <p:cNvGrpSpPr/>
        <p:nvPr/>
      </p:nvGrpSpPr>
      <p:grpSpPr>
        <a:xfrm>
          <a:off x="0" y="0"/>
          <a:ext cx="0" cy="0"/>
          <a:chOff x="0" y="0"/>
          <a:chExt cx="0" cy="0"/>
        </a:xfrm>
      </p:grpSpPr>
      <p:sp>
        <p:nvSpPr>
          <p:cNvPr id="2" name="Text 0"/>
          <p:cNvSpPr/>
          <p:nvPr/>
        </p:nvSpPr>
        <p:spPr>
          <a:xfrm>
            <a:off x="822960" y="475488"/>
            <a:ext cx="10515600" cy="292608"/>
          </a:xfrm>
          <a:prstGeom prst="rect">
            <a:avLst/>
          </a:prstGeom>
          <a:noFill/>
          <a:ln/>
        </p:spPr>
        <p:txBody>
          <a:bodyPr wrap="square" lIns="0" tIns="0" rIns="0" bIns="0" rtlCol="0" anchor="ctr"/>
          <a:lstStyle/>
          <a:p>
            <a:pPr indent="0" marL="0">
              <a:buNone/>
            </a:pPr>
            <a:r>
              <a:rPr lang="en-US" sz="1300" b="1" spc="240" kern="0" dirty="0">
                <a:solidFill>
                  <a:srgbClr val="9FD8CB"/>
                </a:solidFill>
                <a:latin typeface="Calibri" pitchFamily="34" charset="0"/>
                <a:ea typeface="Calibri" pitchFamily="34" charset="-122"/>
                <a:cs typeface="Calibri" pitchFamily="34" charset="-120"/>
              </a:rPr>
              <a:t>THE ONE IDEA EVERYTHING RESTS ON</a:t>
            </a:r>
            <a:endParaRPr lang="en-US" sz="1300" dirty="0"/>
          </a:p>
        </p:txBody>
      </p:sp>
      <p:sp>
        <p:nvSpPr>
          <p:cNvPr id="3" name="Text 1"/>
          <p:cNvSpPr/>
          <p:nvPr/>
        </p:nvSpPr>
        <p:spPr>
          <a:xfrm>
            <a:off x="822960" y="1234440"/>
            <a:ext cx="10515600" cy="777240"/>
          </a:xfrm>
          <a:prstGeom prst="rect">
            <a:avLst/>
          </a:prstGeom>
          <a:noFill/>
          <a:ln/>
        </p:spPr>
        <p:txBody>
          <a:bodyPr wrap="square" lIns="0" tIns="0" rIns="0" bIns="0" rtlCol="0" anchor="ctr"/>
          <a:lstStyle/>
          <a:p>
            <a:pPr indent="0" marL="0">
              <a:buNone/>
            </a:pPr>
            <a:r>
              <a:rPr lang="en-US" sz="3400" i="1" dirty="0">
                <a:solidFill>
                  <a:srgbClr val="7FB3C0"/>
                </a:solidFill>
                <a:latin typeface="Cambria" pitchFamily="34" charset="0"/>
                <a:ea typeface="Cambria" pitchFamily="34" charset="-122"/>
                <a:cs typeface="Cambria" pitchFamily="34" charset="-120"/>
              </a:rPr>
              <a:t>You cannot ask “how risky is this drug?”</a:t>
            </a:r>
            <a:endParaRPr lang="en-US" sz="3400" dirty="0"/>
          </a:p>
        </p:txBody>
      </p:sp>
      <p:sp>
        <p:nvSpPr>
          <p:cNvPr id="4" name="Text 2"/>
          <p:cNvSpPr/>
          <p:nvPr/>
        </p:nvSpPr>
        <p:spPr>
          <a:xfrm>
            <a:off x="822960" y="2240280"/>
            <a:ext cx="10515600" cy="1737360"/>
          </a:xfrm>
          <a:prstGeom prst="rect">
            <a:avLst/>
          </a:prstGeom>
          <a:noFill/>
          <a:ln/>
        </p:spPr>
        <p:txBody>
          <a:bodyPr wrap="square" lIns="0" tIns="0" rIns="0" bIns="0" rtlCol="0" anchor="ctr"/>
          <a:lstStyle/>
          <a:p>
            <a:pPr indent="0" marL="0">
              <a:lnSpc>
                <a:spcPts val="5400"/>
              </a:lnSpc>
              <a:buNone/>
            </a:pPr>
            <a:r>
              <a:rPr lang="en-US" sz="4000" b="1" dirty="0">
                <a:solidFill>
                  <a:srgbClr val="FFFFFF"/>
                </a:solidFill>
                <a:latin typeface="Cambria" pitchFamily="34" charset="0"/>
                <a:ea typeface="Cambria" pitchFamily="34" charset="-122"/>
                <a:cs typeface="Cambria" pitchFamily="34" charset="-120"/>
              </a:rPr>
              <a:t>You can ask: is this reaction reported</a:t>
            </a:r>
            <a:endParaRPr lang="en-US" sz="4000" dirty="0"/>
          </a:p>
          <a:p>
            <a:pPr indent="0" marL="0">
              <a:lnSpc>
                <a:spcPts val="5400"/>
              </a:lnSpc>
              <a:buNone/>
            </a:pPr>
            <a:r>
              <a:rPr lang="en-US" sz="4000" b="1" dirty="0">
                <a:solidFill>
                  <a:srgbClr val="FFFFFF"/>
                </a:solidFill>
                <a:latin typeface="Cambria" pitchFamily="34" charset="0"/>
                <a:ea typeface="Cambria" pitchFamily="34" charset="-122"/>
                <a:cs typeface="Cambria" pitchFamily="34" charset="-120"/>
              </a:rPr>
              <a:t>more with this drug than with all others?</a:t>
            </a:r>
            <a:endParaRPr lang="en-US" sz="4000" dirty="0"/>
          </a:p>
        </p:txBody>
      </p:sp>
      <p:sp>
        <p:nvSpPr>
          <p:cNvPr id="5" name="Text 3"/>
          <p:cNvSpPr/>
          <p:nvPr/>
        </p:nvSpPr>
        <p:spPr>
          <a:xfrm>
            <a:off x="868680" y="4434840"/>
            <a:ext cx="9326880" cy="1371600"/>
          </a:xfrm>
          <a:prstGeom prst="rect">
            <a:avLst/>
          </a:prstGeom>
          <a:noFill/>
          <a:ln/>
        </p:spPr>
        <p:txBody>
          <a:bodyPr wrap="square" lIns="0" tIns="0" rIns="0" bIns="0" rtlCol="0" anchor="ctr"/>
          <a:lstStyle/>
          <a:p>
            <a:pPr indent="0" marL="0">
              <a:lnSpc>
                <a:spcPts val="2800"/>
              </a:lnSpc>
              <a:buNone/>
            </a:pPr>
            <a:r>
              <a:rPr lang="en-US" sz="1900" dirty="0">
                <a:solidFill>
                  <a:srgbClr val="9FD8CB"/>
                </a:solidFill>
                <a:latin typeface="Calibri" pitchFamily="34" charset="0"/>
                <a:ea typeface="Calibri" pitchFamily="34" charset="-122"/>
                <a:cs typeface="Calibri" pitchFamily="34" charset="-120"/>
              </a:rPr>
              <a:t>Both sides of that comparison come from the same database, so the missing denominator cancels out. That single move is what makes the whole field possible — and every statistic in this project is a variation on it.</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475488"/>
            <a:ext cx="10515600" cy="292608"/>
          </a:xfrm>
          <a:prstGeom prst="rect">
            <a:avLst/>
          </a:prstGeom>
          <a:noFill/>
          <a:ln/>
        </p:spPr>
        <p:txBody>
          <a:bodyPr wrap="square" lIns="0" tIns="0" rIns="0" bIns="0" rtlCol="0" anchor="ctr"/>
          <a:lstStyle/>
          <a:p>
            <a:pPr indent="0" marL="0">
              <a:buNone/>
            </a:pPr>
            <a:r>
              <a:rPr lang="en-US" sz="1300" b="1" spc="240" kern="0" dirty="0">
                <a:solidFill>
                  <a:srgbClr val="058C9B"/>
                </a:solidFill>
                <a:latin typeface="Calibri" pitchFamily="34" charset="0"/>
                <a:ea typeface="Calibri" pitchFamily="34" charset="-122"/>
                <a:cs typeface="Calibri" pitchFamily="34" charset="-120"/>
              </a:rPr>
              <a:t>WHAT I BUILT</a:t>
            </a:r>
            <a:endParaRPr lang="en-US" sz="1300" dirty="0"/>
          </a:p>
        </p:txBody>
      </p:sp>
      <p:sp>
        <p:nvSpPr>
          <p:cNvPr id="3" name="Text 1"/>
          <p:cNvSpPr/>
          <p:nvPr/>
        </p:nvSpPr>
        <p:spPr>
          <a:xfrm>
            <a:off x="822960" y="868680"/>
            <a:ext cx="10515600" cy="1051560"/>
          </a:xfrm>
          <a:prstGeom prst="rect">
            <a:avLst/>
          </a:prstGeom>
          <a:noFill/>
          <a:ln/>
        </p:spPr>
        <p:txBody>
          <a:bodyPr wrap="square" lIns="0" tIns="0" rIns="0" bIns="0" rtlCol="0" anchor="t"/>
          <a:lstStyle/>
          <a:p>
            <a:pPr indent="0" marL="0">
              <a:buNone/>
            </a:pPr>
            <a:r>
              <a:rPr lang="en-US" sz="4000" b="1" dirty="0">
                <a:solidFill>
                  <a:srgbClr val="0E2B33"/>
                </a:solidFill>
                <a:latin typeface="Cambria" pitchFamily="34" charset="0"/>
                <a:ea typeface="Cambria" pitchFamily="34" charset="-122"/>
                <a:cs typeface="Cambria" pitchFamily="34" charset="-120"/>
              </a:rPr>
              <a:t>A pipeline, end to end</a:t>
            </a:r>
            <a:endParaRPr lang="en-US" sz="4000" dirty="0"/>
          </a:p>
        </p:txBody>
      </p:sp>
      <p:sp>
        <p:nvSpPr>
          <p:cNvPr id="4" name="Shape 2"/>
          <p:cNvSpPr/>
          <p:nvPr/>
        </p:nvSpPr>
        <p:spPr>
          <a:xfrm>
            <a:off x="822960" y="2148840"/>
            <a:ext cx="3291840" cy="1691640"/>
          </a:xfrm>
          <a:prstGeom prst="roundRect">
            <a:avLst>
              <a:gd name="adj" fmla="val 6486"/>
            </a:avLst>
          </a:prstGeom>
          <a:solidFill>
            <a:srgbClr val="F1F5F6"/>
          </a:solidFill>
          <a:ln/>
          <a:effectLst>
            <a:outerShdw sx="100000" sy="100000" kx="0" ky="0" algn="bl" rotWithShape="0" blurRad="127000" dist="635" dir="5400000">
              <a:srgbClr val="9AAEB5">
                <a:alpha val="35000"/>
              </a:srgbClr>
            </a:outerShdw>
          </a:effectLst>
        </p:spPr>
      </p:sp>
      <p:sp>
        <p:nvSpPr>
          <p:cNvPr id="5" name="Shape 3"/>
          <p:cNvSpPr/>
          <p:nvPr/>
        </p:nvSpPr>
        <p:spPr>
          <a:xfrm>
            <a:off x="1115568" y="2423160"/>
            <a:ext cx="566928" cy="566928"/>
          </a:xfrm>
          <a:prstGeom prst="ellipse">
            <a:avLst/>
          </a:prstGeom>
          <a:solidFill>
            <a:srgbClr val="058C9B"/>
          </a:solidFill>
          <a:ln/>
        </p:spPr>
      </p:sp>
      <p:sp>
        <p:nvSpPr>
          <p:cNvPr id="6" name="Text 4"/>
          <p:cNvSpPr/>
          <p:nvPr/>
        </p:nvSpPr>
        <p:spPr>
          <a:xfrm>
            <a:off x="1115568" y="24231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Text 5"/>
          <p:cNvSpPr/>
          <p:nvPr/>
        </p:nvSpPr>
        <p:spPr>
          <a:xfrm>
            <a:off x="1828800" y="2478024"/>
            <a:ext cx="2103120" cy="411480"/>
          </a:xfrm>
          <a:prstGeom prst="rect">
            <a:avLst/>
          </a:prstGeom>
          <a:noFill/>
          <a:ln/>
        </p:spPr>
        <p:txBody>
          <a:bodyPr wrap="square" lIns="0" tIns="0" rIns="0" bIns="0" rtlCol="0" anchor="ctr"/>
          <a:lstStyle/>
          <a:p>
            <a:pPr indent="0" marL="0">
              <a:buNone/>
            </a:pPr>
            <a:r>
              <a:rPr lang="en-US" sz="2200" b="1" dirty="0">
                <a:solidFill>
                  <a:srgbClr val="0E2B33"/>
                </a:solidFill>
                <a:latin typeface="Cambria" pitchFamily="34" charset="0"/>
                <a:ea typeface="Cambria" pitchFamily="34" charset="-122"/>
                <a:cs typeface="Cambria" pitchFamily="34" charset="-120"/>
              </a:rPr>
              <a:t>Ingest</a:t>
            </a:r>
            <a:endParaRPr lang="en-US" sz="2200" dirty="0"/>
          </a:p>
        </p:txBody>
      </p:sp>
      <p:sp>
        <p:nvSpPr>
          <p:cNvPr id="8" name="Text 6"/>
          <p:cNvSpPr/>
          <p:nvPr/>
        </p:nvSpPr>
        <p:spPr>
          <a:xfrm>
            <a:off x="1115568" y="3108960"/>
            <a:ext cx="2743200" cy="640080"/>
          </a:xfrm>
          <a:prstGeom prst="rect">
            <a:avLst/>
          </a:prstGeom>
          <a:noFill/>
          <a:ln/>
        </p:spPr>
        <p:txBody>
          <a:bodyPr wrap="square" lIns="0" tIns="0" rIns="0" bIns="0" rtlCol="0" anchor="ctr"/>
          <a:lstStyle/>
          <a:p>
            <a:pPr indent="0" marL="0">
              <a:lnSpc>
                <a:spcPts val="2000"/>
              </a:lnSpc>
              <a:buNone/>
            </a:pPr>
            <a:r>
              <a:rPr lang="en-US" sz="1450" dirty="0">
                <a:solidFill>
                  <a:srgbClr val="5B7480"/>
                </a:solidFill>
                <a:latin typeface="Calibri" pitchFamily="34" charset="0"/>
                <a:ea typeface="Calibri" pitchFamily="34" charset="-122"/>
                <a:cs typeface="Calibri" pitchFamily="34" charset="-120"/>
              </a:rPr>
              <a:t>5.3M rows of raw FAERS-format files</a:t>
            </a:r>
            <a:endParaRPr lang="en-US" sz="1450" dirty="0"/>
          </a:p>
        </p:txBody>
      </p:sp>
      <p:sp>
        <p:nvSpPr>
          <p:cNvPr id="9" name="Shape 7"/>
          <p:cNvSpPr/>
          <p:nvPr/>
        </p:nvSpPr>
        <p:spPr>
          <a:xfrm>
            <a:off x="4480560" y="2148840"/>
            <a:ext cx="3291840" cy="1691640"/>
          </a:xfrm>
          <a:prstGeom prst="roundRect">
            <a:avLst>
              <a:gd name="adj" fmla="val 6486"/>
            </a:avLst>
          </a:prstGeom>
          <a:solidFill>
            <a:srgbClr val="F1F5F6"/>
          </a:solidFill>
          <a:ln/>
          <a:effectLst>
            <a:outerShdw sx="100000" sy="100000" kx="0" ky="0" algn="bl" rotWithShape="0" blurRad="127000" dist="635" dir="5400000">
              <a:srgbClr val="9AAEB5">
                <a:alpha val="35000"/>
              </a:srgbClr>
            </a:outerShdw>
          </a:effectLst>
        </p:spPr>
      </p:sp>
      <p:sp>
        <p:nvSpPr>
          <p:cNvPr id="10" name="Shape 8"/>
          <p:cNvSpPr/>
          <p:nvPr/>
        </p:nvSpPr>
        <p:spPr>
          <a:xfrm>
            <a:off x="4773168" y="2423160"/>
            <a:ext cx="566928" cy="566928"/>
          </a:xfrm>
          <a:prstGeom prst="ellipse">
            <a:avLst/>
          </a:prstGeom>
          <a:solidFill>
            <a:srgbClr val="058C9B"/>
          </a:solidFill>
          <a:ln/>
        </p:spPr>
      </p:sp>
      <p:sp>
        <p:nvSpPr>
          <p:cNvPr id="11" name="Text 9"/>
          <p:cNvSpPr/>
          <p:nvPr/>
        </p:nvSpPr>
        <p:spPr>
          <a:xfrm>
            <a:off x="4773168" y="24231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2" name="Text 10"/>
          <p:cNvSpPr/>
          <p:nvPr/>
        </p:nvSpPr>
        <p:spPr>
          <a:xfrm>
            <a:off x="5486400" y="2478024"/>
            <a:ext cx="2103120" cy="411480"/>
          </a:xfrm>
          <a:prstGeom prst="rect">
            <a:avLst/>
          </a:prstGeom>
          <a:noFill/>
          <a:ln/>
        </p:spPr>
        <p:txBody>
          <a:bodyPr wrap="square" lIns="0" tIns="0" rIns="0" bIns="0" rtlCol="0" anchor="ctr"/>
          <a:lstStyle/>
          <a:p>
            <a:pPr indent="0" marL="0">
              <a:buNone/>
            </a:pPr>
            <a:r>
              <a:rPr lang="en-US" sz="2200" b="1" dirty="0">
                <a:solidFill>
                  <a:srgbClr val="0E2B33"/>
                </a:solidFill>
                <a:latin typeface="Cambria" pitchFamily="34" charset="0"/>
                <a:ea typeface="Cambria" pitchFamily="34" charset="-122"/>
                <a:cs typeface="Cambria" pitchFamily="34" charset="-120"/>
              </a:rPr>
              <a:t>Clean</a:t>
            </a:r>
            <a:endParaRPr lang="en-US" sz="2200" dirty="0"/>
          </a:p>
        </p:txBody>
      </p:sp>
      <p:sp>
        <p:nvSpPr>
          <p:cNvPr id="13" name="Text 11"/>
          <p:cNvSpPr/>
          <p:nvPr/>
        </p:nvSpPr>
        <p:spPr>
          <a:xfrm>
            <a:off x="4773168" y="3108960"/>
            <a:ext cx="2743200" cy="640080"/>
          </a:xfrm>
          <a:prstGeom prst="rect">
            <a:avLst/>
          </a:prstGeom>
          <a:noFill/>
          <a:ln/>
        </p:spPr>
        <p:txBody>
          <a:bodyPr wrap="square" lIns="0" tIns="0" rIns="0" bIns="0" rtlCol="0" anchor="ctr"/>
          <a:lstStyle/>
          <a:p>
            <a:pPr indent="0" marL="0">
              <a:lnSpc>
                <a:spcPts val="2000"/>
              </a:lnSpc>
              <a:buNone/>
            </a:pPr>
            <a:r>
              <a:rPr lang="en-US" sz="1450" dirty="0">
                <a:solidFill>
                  <a:srgbClr val="5B7480"/>
                </a:solidFill>
                <a:latin typeface="Calibri" pitchFamily="34" charset="0"/>
                <a:ea typeface="Calibri" pitchFamily="34" charset="-122"/>
                <a:cs typeface="Calibri" pitchFamily="34" charset="-120"/>
              </a:rPr>
              <a:t>Remove duplicate and withdrawn reports</a:t>
            </a:r>
            <a:endParaRPr lang="en-US" sz="1450" dirty="0"/>
          </a:p>
        </p:txBody>
      </p:sp>
      <p:sp>
        <p:nvSpPr>
          <p:cNvPr id="14" name="Shape 12"/>
          <p:cNvSpPr/>
          <p:nvPr/>
        </p:nvSpPr>
        <p:spPr>
          <a:xfrm>
            <a:off x="8138160" y="2148840"/>
            <a:ext cx="3291840" cy="1691640"/>
          </a:xfrm>
          <a:prstGeom prst="roundRect">
            <a:avLst>
              <a:gd name="adj" fmla="val 6486"/>
            </a:avLst>
          </a:prstGeom>
          <a:solidFill>
            <a:srgbClr val="F1F5F6"/>
          </a:solidFill>
          <a:ln/>
          <a:effectLst>
            <a:outerShdw sx="100000" sy="100000" kx="0" ky="0" algn="bl" rotWithShape="0" blurRad="127000" dist="635" dir="5400000">
              <a:srgbClr val="9AAEB5">
                <a:alpha val="35000"/>
              </a:srgbClr>
            </a:outerShdw>
          </a:effectLst>
        </p:spPr>
      </p:sp>
      <p:sp>
        <p:nvSpPr>
          <p:cNvPr id="15" name="Shape 13"/>
          <p:cNvSpPr/>
          <p:nvPr/>
        </p:nvSpPr>
        <p:spPr>
          <a:xfrm>
            <a:off x="8430768" y="2423160"/>
            <a:ext cx="566928" cy="566928"/>
          </a:xfrm>
          <a:prstGeom prst="ellipse">
            <a:avLst/>
          </a:prstGeom>
          <a:solidFill>
            <a:srgbClr val="058C9B"/>
          </a:solidFill>
          <a:ln/>
        </p:spPr>
      </p:sp>
      <p:sp>
        <p:nvSpPr>
          <p:cNvPr id="16" name="Text 14"/>
          <p:cNvSpPr/>
          <p:nvPr/>
        </p:nvSpPr>
        <p:spPr>
          <a:xfrm>
            <a:off x="8430768" y="24231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7" name="Text 15"/>
          <p:cNvSpPr/>
          <p:nvPr/>
        </p:nvSpPr>
        <p:spPr>
          <a:xfrm>
            <a:off x="9144000" y="2478024"/>
            <a:ext cx="2103120" cy="411480"/>
          </a:xfrm>
          <a:prstGeom prst="rect">
            <a:avLst/>
          </a:prstGeom>
          <a:noFill/>
          <a:ln/>
        </p:spPr>
        <p:txBody>
          <a:bodyPr wrap="square" lIns="0" tIns="0" rIns="0" bIns="0" rtlCol="0" anchor="ctr"/>
          <a:lstStyle/>
          <a:p>
            <a:pPr indent="0" marL="0">
              <a:buNone/>
            </a:pPr>
            <a:r>
              <a:rPr lang="en-US" sz="2200" b="1" dirty="0">
                <a:solidFill>
                  <a:srgbClr val="0E2B33"/>
                </a:solidFill>
                <a:latin typeface="Cambria" pitchFamily="34" charset="0"/>
                <a:ea typeface="Cambria" pitchFamily="34" charset="-122"/>
                <a:cs typeface="Cambria" pitchFamily="34" charset="-120"/>
              </a:rPr>
              <a:t>Resolve</a:t>
            </a:r>
            <a:endParaRPr lang="en-US" sz="2200" dirty="0"/>
          </a:p>
        </p:txBody>
      </p:sp>
      <p:sp>
        <p:nvSpPr>
          <p:cNvPr id="18" name="Text 16"/>
          <p:cNvSpPr/>
          <p:nvPr/>
        </p:nvSpPr>
        <p:spPr>
          <a:xfrm>
            <a:off x="8430768" y="3108960"/>
            <a:ext cx="2743200" cy="640080"/>
          </a:xfrm>
          <a:prstGeom prst="rect">
            <a:avLst/>
          </a:prstGeom>
          <a:noFill/>
          <a:ln/>
        </p:spPr>
        <p:txBody>
          <a:bodyPr wrap="square" lIns="0" tIns="0" rIns="0" bIns="0" rtlCol="0" anchor="ctr"/>
          <a:lstStyle/>
          <a:p>
            <a:pPr indent="0" marL="0">
              <a:lnSpc>
                <a:spcPts val="2000"/>
              </a:lnSpc>
              <a:buNone/>
            </a:pPr>
            <a:r>
              <a:rPr lang="en-US" sz="1450" dirty="0">
                <a:solidFill>
                  <a:srgbClr val="5B7480"/>
                </a:solidFill>
                <a:latin typeface="Calibri" pitchFamily="34" charset="0"/>
                <a:ea typeface="Calibri" pitchFamily="34" charset="-122"/>
                <a:cs typeface="Calibri" pitchFamily="34" charset="-120"/>
              </a:rPr>
              <a:t>Turn brand names into real ingredients</a:t>
            </a:r>
            <a:endParaRPr lang="en-US" sz="1450" dirty="0"/>
          </a:p>
        </p:txBody>
      </p:sp>
      <p:sp>
        <p:nvSpPr>
          <p:cNvPr id="19" name="Shape 17"/>
          <p:cNvSpPr/>
          <p:nvPr/>
        </p:nvSpPr>
        <p:spPr>
          <a:xfrm>
            <a:off x="822960" y="4114800"/>
            <a:ext cx="3291840" cy="1691640"/>
          </a:xfrm>
          <a:prstGeom prst="roundRect">
            <a:avLst>
              <a:gd name="adj" fmla="val 6486"/>
            </a:avLst>
          </a:prstGeom>
          <a:solidFill>
            <a:srgbClr val="F1F5F6"/>
          </a:solidFill>
          <a:ln/>
          <a:effectLst>
            <a:outerShdw sx="100000" sy="100000" kx="0" ky="0" algn="bl" rotWithShape="0" blurRad="127000" dist="635" dir="5400000">
              <a:srgbClr val="9AAEB5">
                <a:alpha val="35000"/>
              </a:srgbClr>
            </a:outerShdw>
          </a:effectLst>
        </p:spPr>
      </p:sp>
      <p:sp>
        <p:nvSpPr>
          <p:cNvPr id="20" name="Shape 18"/>
          <p:cNvSpPr/>
          <p:nvPr/>
        </p:nvSpPr>
        <p:spPr>
          <a:xfrm>
            <a:off x="1115568" y="4389120"/>
            <a:ext cx="566928" cy="566928"/>
          </a:xfrm>
          <a:prstGeom prst="ellipse">
            <a:avLst/>
          </a:prstGeom>
          <a:solidFill>
            <a:srgbClr val="058C9B"/>
          </a:solidFill>
          <a:ln/>
        </p:spPr>
      </p:sp>
      <p:sp>
        <p:nvSpPr>
          <p:cNvPr id="21" name="Text 19"/>
          <p:cNvSpPr/>
          <p:nvPr/>
        </p:nvSpPr>
        <p:spPr>
          <a:xfrm>
            <a:off x="1115568" y="43891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2" name="Text 20"/>
          <p:cNvSpPr/>
          <p:nvPr/>
        </p:nvSpPr>
        <p:spPr>
          <a:xfrm>
            <a:off x="1828800" y="4443984"/>
            <a:ext cx="2103120" cy="411480"/>
          </a:xfrm>
          <a:prstGeom prst="rect">
            <a:avLst/>
          </a:prstGeom>
          <a:noFill/>
          <a:ln/>
        </p:spPr>
        <p:txBody>
          <a:bodyPr wrap="square" lIns="0" tIns="0" rIns="0" bIns="0" rtlCol="0" anchor="ctr"/>
          <a:lstStyle/>
          <a:p>
            <a:pPr indent="0" marL="0">
              <a:buNone/>
            </a:pPr>
            <a:r>
              <a:rPr lang="en-US" sz="2200" b="1" dirty="0">
                <a:solidFill>
                  <a:srgbClr val="0E2B33"/>
                </a:solidFill>
                <a:latin typeface="Cambria" pitchFamily="34" charset="0"/>
                <a:ea typeface="Cambria" pitchFamily="34" charset="-122"/>
                <a:cs typeface="Cambria" pitchFamily="34" charset="-120"/>
              </a:rPr>
              <a:t>Model</a:t>
            </a:r>
            <a:endParaRPr lang="en-US" sz="2200" dirty="0"/>
          </a:p>
        </p:txBody>
      </p:sp>
      <p:sp>
        <p:nvSpPr>
          <p:cNvPr id="23" name="Text 21"/>
          <p:cNvSpPr/>
          <p:nvPr/>
        </p:nvSpPr>
        <p:spPr>
          <a:xfrm>
            <a:off x="1115568" y="5074920"/>
            <a:ext cx="2743200" cy="640080"/>
          </a:xfrm>
          <a:prstGeom prst="rect">
            <a:avLst/>
          </a:prstGeom>
          <a:noFill/>
          <a:ln/>
        </p:spPr>
        <p:txBody>
          <a:bodyPr wrap="square" lIns="0" tIns="0" rIns="0" bIns="0" rtlCol="0" anchor="ctr"/>
          <a:lstStyle/>
          <a:p>
            <a:pPr indent="0" marL="0">
              <a:lnSpc>
                <a:spcPts val="2000"/>
              </a:lnSpc>
              <a:buNone/>
            </a:pPr>
            <a:r>
              <a:rPr lang="en-US" sz="1450" dirty="0">
                <a:solidFill>
                  <a:srgbClr val="5B7480"/>
                </a:solidFill>
                <a:latin typeface="Calibri" pitchFamily="34" charset="0"/>
                <a:ea typeface="Calibri" pitchFamily="34" charset="-122"/>
                <a:cs typeface="Calibri" pitchFamily="34" charset="-120"/>
              </a:rPr>
              <a:t>A warehouse built for counting</a:t>
            </a:r>
            <a:endParaRPr lang="en-US" sz="1450" dirty="0"/>
          </a:p>
        </p:txBody>
      </p:sp>
      <p:sp>
        <p:nvSpPr>
          <p:cNvPr id="24" name="Shape 22"/>
          <p:cNvSpPr/>
          <p:nvPr/>
        </p:nvSpPr>
        <p:spPr>
          <a:xfrm>
            <a:off x="4480560" y="4114800"/>
            <a:ext cx="3291840" cy="1691640"/>
          </a:xfrm>
          <a:prstGeom prst="roundRect">
            <a:avLst>
              <a:gd name="adj" fmla="val 6486"/>
            </a:avLst>
          </a:prstGeom>
          <a:solidFill>
            <a:srgbClr val="F1F5F6"/>
          </a:solidFill>
          <a:ln/>
          <a:effectLst>
            <a:outerShdw sx="100000" sy="100000" kx="0" ky="0" algn="bl" rotWithShape="0" blurRad="127000" dist="635" dir="5400000">
              <a:srgbClr val="9AAEB5">
                <a:alpha val="35000"/>
              </a:srgbClr>
            </a:outerShdw>
          </a:effectLst>
        </p:spPr>
      </p:sp>
      <p:sp>
        <p:nvSpPr>
          <p:cNvPr id="25" name="Shape 23"/>
          <p:cNvSpPr/>
          <p:nvPr/>
        </p:nvSpPr>
        <p:spPr>
          <a:xfrm>
            <a:off x="4773168" y="4389120"/>
            <a:ext cx="566928" cy="566928"/>
          </a:xfrm>
          <a:prstGeom prst="ellipse">
            <a:avLst/>
          </a:prstGeom>
          <a:solidFill>
            <a:srgbClr val="058C9B"/>
          </a:solidFill>
          <a:ln/>
        </p:spPr>
      </p:sp>
      <p:sp>
        <p:nvSpPr>
          <p:cNvPr id="26" name="Text 24"/>
          <p:cNvSpPr/>
          <p:nvPr/>
        </p:nvSpPr>
        <p:spPr>
          <a:xfrm>
            <a:off x="4773168" y="43891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27" name="Text 25"/>
          <p:cNvSpPr/>
          <p:nvPr/>
        </p:nvSpPr>
        <p:spPr>
          <a:xfrm>
            <a:off x="5486400" y="4443984"/>
            <a:ext cx="2103120" cy="411480"/>
          </a:xfrm>
          <a:prstGeom prst="rect">
            <a:avLst/>
          </a:prstGeom>
          <a:noFill/>
          <a:ln/>
        </p:spPr>
        <p:txBody>
          <a:bodyPr wrap="square" lIns="0" tIns="0" rIns="0" bIns="0" rtlCol="0" anchor="ctr"/>
          <a:lstStyle/>
          <a:p>
            <a:pPr indent="0" marL="0">
              <a:buNone/>
            </a:pPr>
            <a:r>
              <a:rPr lang="en-US" sz="2200" b="1" dirty="0">
                <a:solidFill>
                  <a:srgbClr val="0E2B33"/>
                </a:solidFill>
                <a:latin typeface="Cambria" pitchFamily="34" charset="0"/>
                <a:ea typeface="Cambria" pitchFamily="34" charset="-122"/>
                <a:cs typeface="Cambria" pitchFamily="34" charset="-120"/>
              </a:rPr>
              <a:t>Detect</a:t>
            </a:r>
            <a:endParaRPr lang="en-US" sz="2200" dirty="0"/>
          </a:p>
        </p:txBody>
      </p:sp>
      <p:sp>
        <p:nvSpPr>
          <p:cNvPr id="28" name="Text 26"/>
          <p:cNvSpPr/>
          <p:nvPr/>
        </p:nvSpPr>
        <p:spPr>
          <a:xfrm>
            <a:off x="4773168" y="5074920"/>
            <a:ext cx="2743200" cy="640080"/>
          </a:xfrm>
          <a:prstGeom prst="rect">
            <a:avLst/>
          </a:prstGeom>
          <a:noFill/>
          <a:ln/>
        </p:spPr>
        <p:txBody>
          <a:bodyPr wrap="square" lIns="0" tIns="0" rIns="0" bIns="0" rtlCol="0" anchor="ctr"/>
          <a:lstStyle/>
          <a:p>
            <a:pPr indent="0" marL="0">
              <a:lnSpc>
                <a:spcPts val="2000"/>
              </a:lnSpc>
              <a:buNone/>
            </a:pPr>
            <a:r>
              <a:rPr lang="en-US" sz="1450" dirty="0">
                <a:solidFill>
                  <a:srgbClr val="5B7480"/>
                </a:solidFill>
                <a:latin typeface="Calibri" pitchFamily="34" charset="0"/>
                <a:ea typeface="Calibri" pitchFamily="34" charset="-122"/>
                <a:cs typeface="Calibri" pitchFamily="34" charset="-120"/>
              </a:rPr>
              <a:t>Four published statistics, in SQL</a:t>
            </a:r>
            <a:endParaRPr lang="en-US" sz="1450" dirty="0"/>
          </a:p>
        </p:txBody>
      </p:sp>
      <p:sp>
        <p:nvSpPr>
          <p:cNvPr id="29" name="Shape 27"/>
          <p:cNvSpPr/>
          <p:nvPr/>
        </p:nvSpPr>
        <p:spPr>
          <a:xfrm>
            <a:off x="8138160" y="4114800"/>
            <a:ext cx="3291840" cy="1691640"/>
          </a:xfrm>
          <a:prstGeom prst="roundRect">
            <a:avLst>
              <a:gd name="adj" fmla="val 6486"/>
            </a:avLst>
          </a:prstGeom>
          <a:solidFill>
            <a:srgbClr val="F1F5F6"/>
          </a:solidFill>
          <a:ln/>
          <a:effectLst>
            <a:outerShdw sx="100000" sy="100000" kx="0" ky="0" algn="bl" rotWithShape="0" blurRad="127000" dist="635" dir="5400000">
              <a:srgbClr val="9AAEB5">
                <a:alpha val="35000"/>
              </a:srgbClr>
            </a:outerShdw>
          </a:effectLst>
        </p:spPr>
      </p:sp>
      <p:sp>
        <p:nvSpPr>
          <p:cNvPr id="30" name="Shape 28"/>
          <p:cNvSpPr/>
          <p:nvPr/>
        </p:nvSpPr>
        <p:spPr>
          <a:xfrm>
            <a:off x="8430768" y="4389120"/>
            <a:ext cx="566928" cy="566928"/>
          </a:xfrm>
          <a:prstGeom prst="ellipse">
            <a:avLst/>
          </a:prstGeom>
          <a:solidFill>
            <a:srgbClr val="EF6351"/>
          </a:solidFill>
          <a:ln/>
        </p:spPr>
      </p:sp>
      <p:sp>
        <p:nvSpPr>
          <p:cNvPr id="31" name="Text 29"/>
          <p:cNvSpPr/>
          <p:nvPr/>
        </p:nvSpPr>
        <p:spPr>
          <a:xfrm>
            <a:off x="8430768" y="43891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6</a:t>
            </a:r>
            <a:endParaRPr lang="en-US" sz="2000" dirty="0"/>
          </a:p>
        </p:txBody>
      </p:sp>
      <p:sp>
        <p:nvSpPr>
          <p:cNvPr id="32" name="Text 30"/>
          <p:cNvSpPr/>
          <p:nvPr/>
        </p:nvSpPr>
        <p:spPr>
          <a:xfrm>
            <a:off x="9144000" y="4443984"/>
            <a:ext cx="2103120" cy="411480"/>
          </a:xfrm>
          <a:prstGeom prst="rect">
            <a:avLst/>
          </a:prstGeom>
          <a:noFill/>
          <a:ln/>
        </p:spPr>
        <p:txBody>
          <a:bodyPr wrap="square" lIns="0" tIns="0" rIns="0" bIns="0" rtlCol="0" anchor="ctr"/>
          <a:lstStyle/>
          <a:p>
            <a:pPr indent="0" marL="0">
              <a:buNone/>
            </a:pPr>
            <a:r>
              <a:rPr lang="en-US" sz="2200" b="1" dirty="0">
                <a:solidFill>
                  <a:srgbClr val="0E2B33"/>
                </a:solidFill>
                <a:latin typeface="Cambria" pitchFamily="34" charset="0"/>
                <a:ea typeface="Cambria" pitchFamily="34" charset="-122"/>
                <a:cs typeface="Cambria" pitchFamily="34" charset="-120"/>
              </a:rPr>
              <a:t>Prove</a:t>
            </a:r>
            <a:endParaRPr lang="en-US" sz="2200" dirty="0"/>
          </a:p>
        </p:txBody>
      </p:sp>
      <p:sp>
        <p:nvSpPr>
          <p:cNvPr id="33" name="Text 31"/>
          <p:cNvSpPr/>
          <p:nvPr/>
        </p:nvSpPr>
        <p:spPr>
          <a:xfrm>
            <a:off x="8430768" y="5074920"/>
            <a:ext cx="2743200" cy="640080"/>
          </a:xfrm>
          <a:prstGeom prst="rect">
            <a:avLst/>
          </a:prstGeom>
          <a:noFill/>
          <a:ln/>
        </p:spPr>
        <p:txBody>
          <a:bodyPr wrap="square" lIns="0" tIns="0" rIns="0" bIns="0" rtlCol="0" anchor="ctr"/>
          <a:lstStyle/>
          <a:p>
            <a:pPr indent="0" marL="0">
              <a:lnSpc>
                <a:spcPts val="2000"/>
              </a:lnSpc>
              <a:buNone/>
            </a:pPr>
            <a:r>
              <a:rPr lang="en-US" sz="1450" dirty="0">
                <a:solidFill>
                  <a:srgbClr val="5B7480"/>
                </a:solidFill>
                <a:latin typeface="Calibri" pitchFamily="34" charset="0"/>
                <a:ea typeface="Calibri" pitchFamily="34" charset="-122"/>
                <a:cs typeface="Calibri" pitchFamily="34" charset="-120"/>
              </a:rPr>
              <a:t>Score it against known answers</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475488"/>
            <a:ext cx="10515600" cy="292608"/>
          </a:xfrm>
          <a:prstGeom prst="rect">
            <a:avLst/>
          </a:prstGeom>
          <a:noFill/>
          <a:ln/>
        </p:spPr>
        <p:txBody>
          <a:bodyPr wrap="square" lIns="0" tIns="0" rIns="0" bIns="0" rtlCol="0" anchor="ctr"/>
          <a:lstStyle/>
          <a:p>
            <a:pPr indent="0" marL="0">
              <a:buNone/>
            </a:pPr>
            <a:r>
              <a:rPr lang="en-US" sz="1300" b="1" spc="240" kern="0" dirty="0">
                <a:solidFill>
                  <a:srgbClr val="058C9B"/>
                </a:solidFill>
                <a:latin typeface="Calibri" pitchFamily="34" charset="0"/>
                <a:ea typeface="Calibri" pitchFamily="34" charset="-122"/>
                <a:cs typeface="Calibri" pitchFamily="34" charset="-120"/>
              </a:rPr>
              <a:t>HARD PART 1 OF 2</a:t>
            </a:r>
            <a:endParaRPr lang="en-US" sz="1300" dirty="0"/>
          </a:p>
        </p:txBody>
      </p:sp>
      <p:sp>
        <p:nvSpPr>
          <p:cNvPr id="3" name="Text 1"/>
          <p:cNvSpPr/>
          <p:nvPr/>
        </p:nvSpPr>
        <p:spPr>
          <a:xfrm>
            <a:off x="822960" y="868680"/>
            <a:ext cx="10515600" cy="1051560"/>
          </a:xfrm>
          <a:prstGeom prst="rect">
            <a:avLst/>
          </a:prstGeom>
          <a:noFill/>
          <a:ln/>
        </p:spPr>
        <p:txBody>
          <a:bodyPr wrap="square" lIns="0" tIns="0" rIns="0" bIns="0" rtlCol="0" anchor="t"/>
          <a:lstStyle/>
          <a:p>
            <a:pPr indent="0" marL="0">
              <a:buNone/>
            </a:pPr>
            <a:r>
              <a:rPr lang="en-US" sz="4000" b="1" dirty="0">
                <a:solidFill>
                  <a:srgbClr val="0E2B33"/>
                </a:solidFill>
                <a:latin typeface="Cambria" pitchFamily="34" charset="0"/>
                <a:ea typeface="Cambria" pitchFamily="34" charset="-122"/>
                <a:cs typeface="Cambria" pitchFamily="34" charset="-120"/>
              </a:rPr>
              <a:t>The same report, counted twice</a:t>
            </a:r>
            <a:endParaRPr lang="en-US" sz="4000" dirty="0"/>
          </a:p>
        </p:txBody>
      </p:sp>
      <p:sp>
        <p:nvSpPr>
          <p:cNvPr id="4" name="Text 2"/>
          <p:cNvSpPr/>
          <p:nvPr/>
        </p:nvSpPr>
        <p:spPr>
          <a:xfrm>
            <a:off x="822960" y="1920240"/>
            <a:ext cx="6035040" cy="2011680"/>
          </a:xfrm>
          <a:prstGeom prst="rect">
            <a:avLst/>
          </a:prstGeom>
          <a:noFill/>
          <a:ln/>
        </p:spPr>
        <p:txBody>
          <a:bodyPr wrap="square" lIns="0" tIns="0" rIns="0" bIns="0" rtlCol="0" anchor="ctr"/>
          <a:lstStyle/>
          <a:p>
            <a:pPr indent="0" marL="0">
              <a:lnSpc>
                <a:spcPts val="2900"/>
              </a:lnSpc>
              <a:buNone/>
            </a:pPr>
            <a:r>
              <a:rPr lang="en-US" sz="1900" dirty="0">
                <a:solidFill>
                  <a:srgbClr val="5B7480"/>
                </a:solidFill>
                <a:latin typeface="Calibri" pitchFamily="34" charset="0"/>
                <a:ea typeface="Calibri" pitchFamily="34" charset="-122"/>
                <a:cs typeface="Calibri" pitchFamily="34" charset="-120"/>
              </a:rPr>
              <a:t>When a report is updated, the FDA republishes the whole thing. Both copies sit in the file. Count rows and you count that patient twice — and updates are more likely for the serious cases, so the error inflates exactly what matters most.</a:t>
            </a:r>
            <a:endParaRPr lang="en-US" sz="1900" dirty="0"/>
          </a:p>
        </p:txBody>
      </p:sp>
      <p:sp>
        <p:nvSpPr>
          <p:cNvPr id="5" name="Shape 3"/>
          <p:cNvSpPr/>
          <p:nvPr/>
        </p:nvSpPr>
        <p:spPr>
          <a:xfrm>
            <a:off x="7315200" y="1920240"/>
            <a:ext cx="4023360" cy="3017520"/>
          </a:xfrm>
          <a:prstGeom prst="roundRect">
            <a:avLst>
              <a:gd name="adj" fmla="val 3636"/>
            </a:avLst>
          </a:prstGeom>
          <a:solidFill>
            <a:srgbClr val="F1F5F6"/>
          </a:solidFill>
          <a:ln/>
          <a:effectLst>
            <a:outerShdw sx="100000" sy="100000" kx="0" ky="0" algn="bl" rotWithShape="0" blurRad="127000" dist="635" dir="5400000">
              <a:srgbClr val="9AAEB5">
                <a:alpha val="35000"/>
              </a:srgbClr>
            </a:outerShdw>
          </a:effectLst>
        </p:spPr>
      </p:sp>
      <p:sp>
        <p:nvSpPr>
          <p:cNvPr id="6" name="Text 4"/>
          <p:cNvSpPr/>
          <p:nvPr/>
        </p:nvSpPr>
        <p:spPr>
          <a:xfrm>
            <a:off x="7589520" y="2377440"/>
            <a:ext cx="3474720" cy="1005840"/>
          </a:xfrm>
          <a:prstGeom prst="rect">
            <a:avLst/>
          </a:prstGeom>
          <a:noFill/>
          <a:ln/>
        </p:spPr>
        <p:txBody>
          <a:bodyPr wrap="square" lIns="0" tIns="0" rIns="0" bIns="0" rtlCol="0" anchor="ctr"/>
          <a:lstStyle/>
          <a:p>
            <a:pPr algn="ctr" indent="0" marL="0">
              <a:buNone/>
            </a:pPr>
            <a:r>
              <a:rPr lang="en-US" sz="6000" b="1" dirty="0">
                <a:solidFill>
                  <a:srgbClr val="EF6351"/>
                </a:solidFill>
                <a:latin typeface="Cambria" pitchFamily="34" charset="0"/>
                <a:ea typeface="Cambria" pitchFamily="34" charset="-122"/>
                <a:cs typeface="Cambria" pitchFamily="34" charset="-120"/>
              </a:rPr>
              <a:t>46,784</a:t>
            </a:r>
            <a:endParaRPr lang="en-US" sz="6000" dirty="0"/>
          </a:p>
        </p:txBody>
      </p:sp>
      <p:sp>
        <p:nvSpPr>
          <p:cNvPr id="7" name="Text 5"/>
          <p:cNvSpPr/>
          <p:nvPr/>
        </p:nvSpPr>
        <p:spPr>
          <a:xfrm>
            <a:off x="7589520" y="3429000"/>
            <a:ext cx="3474720" cy="731520"/>
          </a:xfrm>
          <a:prstGeom prst="rect">
            <a:avLst/>
          </a:prstGeom>
          <a:noFill/>
          <a:ln/>
        </p:spPr>
        <p:txBody>
          <a:bodyPr wrap="square" lIns="0" tIns="0" rIns="0" bIns="0" rtlCol="0" anchor="ctr"/>
          <a:lstStyle/>
          <a:p>
            <a:pPr algn="ctr" indent="0" marL="0">
              <a:lnSpc>
                <a:spcPts val="2200"/>
              </a:lnSpc>
              <a:buNone/>
            </a:pPr>
            <a:r>
              <a:rPr lang="en-US" sz="1600" dirty="0">
                <a:solidFill>
                  <a:srgbClr val="0E2B33"/>
                </a:solidFill>
                <a:latin typeface="Calibri" pitchFamily="34" charset="0"/>
                <a:ea typeface="Calibri" pitchFamily="34" charset="-122"/>
                <a:cs typeface="Calibri" pitchFamily="34" charset="-120"/>
              </a:rPr>
              <a:t>duplicate or withdrawn</a:t>
            </a:r>
            <a:endParaRPr lang="en-US" sz="1600" dirty="0"/>
          </a:p>
          <a:p>
            <a:pPr algn="ctr" indent="0" marL="0">
              <a:lnSpc>
                <a:spcPts val="2200"/>
              </a:lnSpc>
              <a:buNone/>
            </a:pPr>
            <a:r>
              <a:rPr lang="en-US" sz="1600" dirty="0">
                <a:solidFill>
                  <a:srgbClr val="0E2B33"/>
                </a:solidFill>
                <a:latin typeface="Calibri" pitchFamily="34" charset="0"/>
                <a:ea typeface="Calibri" pitchFamily="34" charset="-122"/>
                <a:cs typeface="Calibri" pitchFamily="34" charset="-120"/>
              </a:rPr>
              <a:t>reports removed</a:t>
            </a:r>
            <a:endParaRPr lang="en-US" sz="1600" dirty="0"/>
          </a:p>
        </p:txBody>
      </p:sp>
      <p:sp>
        <p:nvSpPr>
          <p:cNvPr id="8" name="Text 6"/>
          <p:cNvSpPr/>
          <p:nvPr/>
        </p:nvSpPr>
        <p:spPr>
          <a:xfrm>
            <a:off x="7589520" y="4206240"/>
            <a:ext cx="3474720" cy="365760"/>
          </a:xfrm>
          <a:prstGeom prst="rect">
            <a:avLst/>
          </a:prstGeom>
          <a:noFill/>
          <a:ln/>
        </p:spPr>
        <p:txBody>
          <a:bodyPr wrap="square" lIns="0" tIns="0" rIns="0" bIns="0" rtlCol="0" anchor="ctr"/>
          <a:lstStyle/>
          <a:p>
            <a:pPr algn="ctr" indent="0" marL="0">
              <a:buNone/>
            </a:pPr>
            <a:r>
              <a:rPr lang="en-US" sz="1500" b="1" dirty="0">
                <a:solidFill>
                  <a:srgbClr val="058C9B"/>
                </a:solidFill>
                <a:latin typeface="Calibri" pitchFamily="34" charset="0"/>
                <a:ea typeface="Calibri" pitchFamily="34" charset="-122"/>
                <a:cs typeface="Calibri" pitchFamily="34" charset="-120"/>
              </a:rPr>
              <a:t>11.1% of the raw data</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475488"/>
            <a:ext cx="10515600" cy="292608"/>
          </a:xfrm>
          <a:prstGeom prst="rect">
            <a:avLst/>
          </a:prstGeom>
          <a:noFill/>
          <a:ln/>
        </p:spPr>
        <p:txBody>
          <a:bodyPr wrap="square" lIns="0" tIns="0" rIns="0" bIns="0" rtlCol="0" anchor="ctr"/>
          <a:lstStyle/>
          <a:p>
            <a:pPr indent="0" marL="0">
              <a:buNone/>
            </a:pPr>
            <a:r>
              <a:rPr lang="en-US" sz="1300" b="1" spc="240" kern="0" dirty="0">
                <a:solidFill>
                  <a:srgbClr val="058C9B"/>
                </a:solidFill>
                <a:latin typeface="Calibri" pitchFamily="34" charset="0"/>
                <a:ea typeface="Calibri" pitchFamily="34" charset="-122"/>
                <a:cs typeface="Calibri" pitchFamily="34" charset="-120"/>
              </a:rPr>
              <a:t>HARD PART 2 OF 2</a:t>
            </a:r>
            <a:endParaRPr lang="en-US" sz="1300" dirty="0"/>
          </a:p>
        </p:txBody>
      </p:sp>
      <p:sp>
        <p:nvSpPr>
          <p:cNvPr id="3" name="Text 1"/>
          <p:cNvSpPr/>
          <p:nvPr/>
        </p:nvSpPr>
        <p:spPr>
          <a:xfrm>
            <a:off x="822960" y="868680"/>
            <a:ext cx="10515600" cy="1051560"/>
          </a:xfrm>
          <a:prstGeom prst="rect">
            <a:avLst/>
          </a:prstGeom>
          <a:noFill/>
          <a:ln/>
        </p:spPr>
        <p:txBody>
          <a:bodyPr wrap="square" lIns="0" tIns="0" rIns="0" bIns="0" rtlCol="0" anchor="t"/>
          <a:lstStyle/>
          <a:p>
            <a:pPr indent="0" marL="0">
              <a:buNone/>
            </a:pPr>
            <a:r>
              <a:rPr lang="en-US" sz="4000" b="1" dirty="0">
                <a:solidFill>
                  <a:srgbClr val="0E2B33"/>
                </a:solidFill>
                <a:latin typeface="Cambria" pitchFamily="34" charset="0"/>
                <a:ea typeface="Cambria" pitchFamily="34" charset="-122"/>
                <a:cs typeface="Cambria" pitchFamily="34" charset="-120"/>
              </a:rPr>
              <a:t>One drug, six spellings</a:t>
            </a:r>
            <a:endParaRPr lang="en-US" sz="4000" dirty="0"/>
          </a:p>
        </p:txBody>
      </p:sp>
      <p:sp>
        <p:nvSpPr>
          <p:cNvPr id="4" name="Text 2"/>
          <p:cNvSpPr/>
          <p:nvPr/>
        </p:nvSpPr>
        <p:spPr>
          <a:xfrm>
            <a:off x="822960" y="1874520"/>
            <a:ext cx="6400800" cy="457200"/>
          </a:xfrm>
          <a:prstGeom prst="rect">
            <a:avLst/>
          </a:prstGeom>
          <a:noFill/>
          <a:ln/>
        </p:spPr>
        <p:txBody>
          <a:bodyPr wrap="square" lIns="0" tIns="0" rIns="0" bIns="0" rtlCol="0" anchor="ctr"/>
          <a:lstStyle/>
          <a:p>
            <a:pPr indent="0" marL="0">
              <a:buNone/>
            </a:pPr>
            <a:r>
              <a:rPr lang="en-US" sz="1900" dirty="0">
                <a:solidFill>
                  <a:srgbClr val="5B7480"/>
                </a:solidFill>
                <a:latin typeface="Calibri" pitchFamily="34" charset="0"/>
                <a:ea typeface="Calibri" pitchFamily="34" charset="-122"/>
                <a:cs typeface="Calibri" pitchFamily="34" charset="-120"/>
              </a:rPr>
              <a:t>People type whatever is on the box.</a:t>
            </a:r>
            <a:endParaRPr lang="en-US" sz="1900" dirty="0"/>
          </a:p>
        </p:txBody>
      </p:sp>
      <p:sp>
        <p:nvSpPr>
          <p:cNvPr id="5" name="Shape 3"/>
          <p:cNvSpPr/>
          <p:nvPr/>
        </p:nvSpPr>
        <p:spPr>
          <a:xfrm>
            <a:off x="822960" y="2450592"/>
            <a:ext cx="4114800" cy="438912"/>
          </a:xfrm>
          <a:prstGeom prst="roundRect">
            <a:avLst>
              <a:gd name="adj" fmla="val 16667"/>
            </a:avLst>
          </a:prstGeom>
          <a:solidFill>
            <a:srgbClr val="F1F5F6"/>
          </a:solidFill>
          <a:ln/>
        </p:spPr>
      </p:sp>
      <p:sp>
        <p:nvSpPr>
          <p:cNvPr id="6" name="Text 4"/>
          <p:cNvSpPr/>
          <p:nvPr/>
        </p:nvSpPr>
        <p:spPr>
          <a:xfrm>
            <a:off x="1051560" y="2450592"/>
            <a:ext cx="3749040" cy="438912"/>
          </a:xfrm>
          <a:prstGeom prst="rect">
            <a:avLst/>
          </a:prstGeom>
          <a:noFill/>
          <a:ln/>
        </p:spPr>
        <p:txBody>
          <a:bodyPr wrap="square" lIns="0" tIns="0" rIns="0" bIns="0" rtlCol="0" anchor="ctr"/>
          <a:lstStyle/>
          <a:p>
            <a:pPr indent="0" marL="0">
              <a:buNone/>
            </a:pPr>
            <a:r>
              <a:rPr lang="en-US" sz="1400" dirty="0">
                <a:solidFill>
                  <a:srgbClr val="0E2B33"/>
                </a:solidFill>
                <a:latin typeface="Courier New" pitchFamily="34" charset="0"/>
                <a:ea typeface="Courier New" pitchFamily="34" charset="-122"/>
                <a:cs typeface="Courier New" pitchFamily="34" charset="-120"/>
              </a:rPr>
              <a:t>SINGULAIR</a:t>
            </a:r>
            <a:endParaRPr lang="en-US" sz="1400" dirty="0"/>
          </a:p>
        </p:txBody>
      </p:sp>
      <p:sp>
        <p:nvSpPr>
          <p:cNvPr id="7" name="Shape 5"/>
          <p:cNvSpPr/>
          <p:nvPr/>
        </p:nvSpPr>
        <p:spPr>
          <a:xfrm>
            <a:off x="822960" y="2980944"/>
            <a:ext cx="4114800" cy="438912"/>
          </a:xfrm>
          <a:prstGeom prst="roundRect">
            <a:avLst>
              <a:gd name="adj" fmla="val 16667"/>
            </a:avLst>
          </a:prstGeom>
          <a:solidFill>
            <a:srgbClr val="F1F5F6"/>
          </a:solidFill>
          <a:ln/>
        </p:spPr>
      </p:sp>
      <p:sp>
        <p:nvSpPr>
          <p:cNvPr id="8" name="Text 6"/>
          <p:cNvSpPr/>
          <p:nvPr/>
        </p:nvSpPr>
        <p:spPr>
          <a:xfrm>
            <a:off x="1051560" y="2980944"/>
            <a:ext cx="3749040" cy="438912"/>
          </a:xfrm>
          <a:prstGeom prst="rect">
            <a:avLst/>
          </a:prstGeom>
          <a:noFill/>
          <a:ln/>
        </p:spPr>
        <p:txBody>
          <a:bodyPr wrap="square" lIns="0" tIns="0" rIns="0" bIns="0" rtlCol="0" anchor="ctr"/>
          <a:lstStyle/>
          <a:p>
            <a:pPr indent="0" marL="0">
              <a:buNone/>
            </a:pPr>
            <a:r>
              <a:rPr lang="en-US" sz="1400" dirty="0">
                <a:solidFill>
                  <a:srgbClr val="0E2B33"/>
                </a:solidFill>
                <a:latin typeface="Courier New" pitchFamily="34" charset="0"/>
                <a:ea typeface="Courier New" pitchFamily="34" charset="-122"/>
                <a:cs typeface="Courier New" pitchFamily="34" charset="-120"/>
              </a:rPr>
              <a:t>Singulair 10mg</a:t>
            </a:r>
            <a:endParaRPr lang="en-US" sz="1400" dirty="0"/>
          </a:p>
        </p:txBody>
      </p:sp>
      <p:sp>
        <p:nvSpPr>
          <p:cNvPr id="9" name="Shape 7"/>
          <p:cNvSpPr/>
          <p:nvPr/>
        </p:nvSpPr>
        <p:spPr>
          <a:xfrm>
            <a:off x="822960" y="3511296"/>
            <a:ext cx="4114800" cy="438912"/>
          </a:xfrm>
          <a:prstGeom prst="roundRect">
            <a:avLst>
              <a:gd name="adj" fmla="val 16667"/>
            </a:avLst>
          </a:prstGeom>
          <a:solidFill>
            <a:srgbClr val="F1F5F6"/>
          </a:solidFill>
          <a:ln/>
        </p:spPr>
      </p:sp>
      <p:sp>
        <p:nvSpPr>
          <p:cNvPr id="10" name="Text 8"/>
          <p:cNvSpPr/>
          <p:nvPr/>
        </p:nvSpPr>
        <p:spPr>
          <a:xfrm>
            <a:off x="1051560" y="3511296"/>
            <a:ext cx="3749040" cy="438912"/>
          </a:xfrm>
          <a:prstGeom prst="rect">
            <a:avLst/>
          </a:prstGeom>
          <a:noFill/>
          <a:ln/>
        </p:spPr>
        <p:txBody>
          <a:bodyPr wrap="square" lIns="0" tIns="0" rIns="0" bIns="0" rtlCol="0" anchor="ctr"/>
          <a:lstStyle/>
          <a:p>
            <a:pPr indent="0" marL="0">
              <a:buNone/>
            </a:pPr>
            <a:r>
              <a:rPr lang="en-US" sz="1400" dirty="0">
                <a:solidFill>
                  <a:srgbClr val="0E2B33"/>
                </a:solidFill>
                <a:latin typeface="Courier New" pitchFamily="34" charset="0"/>
                <a:ea typeface="Courier New" pitchFamily="34" charset="-122"/>
                <a:cs typeface="Courier New" pitchFamily="34" charset="-120"/>
              </a:rPr>
              <a:t>MONTELUKAST SODIUM</a:t>
            </a:r>
            <a:endParaRPr lang="en-US" sz="1400" dirty="0"/>
          </a:p>
        </p:txBody>
      </p:sp>
      <p:sp>
        <p:nvSpPr>
          <p:cNvPr id="11" name="Shape 9"/>
          <p:cNvSpPr/>
          <p:nvPr/>
        </p:nvSpPr>
        <p:spPr>
          <a:xfrm>
            <a:off x="822960" y="4041648"/>
            <a:ext cx="4114800" cy="438912"/>
          </a:xfrm>
          <a:prstGeom prst="roundRect">
            <a:avLst>
              <a:gd name="adj" fmla="val 16667"/>
            </a:avLst>
          </a:prstGeom>
          <a:solidFill>
            <a:srgbClr val="F1F5F6"/>
          </a:solidFill>
          <a:ln/>
        </p:spPr>
      </p:sp>
      <p:sp>
        <p:nvSpPr>
          <p:cNvPr id="12" name="Text 10"/>
          <p:cNvSpPr/>
          <p:nvPr/>
        </p:nvSpPr>
        <p:spPr>
          <a:xfrm>
            <a:off x="1051560" y="4041648"/>
            <a:ext cx="3749040" cy="438912"/>
          </a:xfrm>
          <a:prstGeom prst="rect">
            <a:avLst/>
          </a:prstGeom>
          <a:noFill/>
          <a:ln/>
        </p:spPr>
        <p:txBody>
          <a:bodyPr wrap="square" lIns="0" tIns="0" rIns="0" bIns="0" rtlCol="0" anchor="ctr"/>
          <a:lstStyle/>
          <a:p>
            <a:pPr indent="0" marL="0">
              <a:buNone/>
            </a:pPr>
            <a:r>
              <a:rPr lang="en-US" sz="1400" dirty="0">
                <a:solidFill>
                  <a:srgbClr val="0E2B33"/>
                </a:solidFill>
                <a:latin typeface="Courier New" pitchFamily="34" charset="0"/>
                <a:ea typeface="Courier New" pitchFamily="34" charset="-122"/>
                <a:cs typeface="Courier New" pitchFamily="34" charset="-120"/>
              </a:rPr>
              <a:t>montelukast</a:t>
            </a:r>
            <a:endParaRPr lang="en-US" sz="1400" dirty="0"/>
          </a:p>
        </p:txBody>
      </p:sp>
      <p:sp>
        <p:nvSpPr>
          <p:cNvPr id="13" name="Shape 11"/>
          <p:cNvSpPr/>
          <p:nvPr/>
        </p:nvSpPr>
        <p:spPr>
          <a:xfrm>
            <a:off x="822960" y="4572000"/>
            <a:ext cx="4114800" cy="438912"/>
          </a:xfrm>
          <a:prstGeom prst="roundRect">
            <a:avLst>
              <a:gd name="adj" fmla="val 16667"/>
            </a:avLst>
          </a:prstGeom>
          <a:solidFill>
            <a:srgbClr val="F1F5F6"/>
          </a:solidFill>
          <a:ln/>
        </p:spPr>
      </p:sp>
      <p:sp>
        <p:nvSpPr>
          <p:cNvPr id="14" name="Text 12"/>
          <p:cNvSpPr/>
          <p:nvPr/>
        </p:nvSpPr>
        <p:spPr>
          <a:xfrm>
            <a:off x="1051560" y="4572000"/>
            <a:ext cx="3749040" cy="438912"/>
          </a:xfrm>
          <a:prstGeom prst="rect">
            <a:avLst/>
          </a:prstGeom>
          <a:noFill/>
          <a:ln/>
        </p:spPr>
        <p:txBody>
          <a:bodyPr wrap="square" lIns="0" tIns="0" rIns="0" bIns="0" rtlCol="0" anchor="ctr"/>
          <a:lstStyle/>
          <a:p>
            <a:pPr indent="0" marL="0">
              <a:buNone/>
            </a:pPr>
            <a:r>
              <a:rPr lang="en-US" sz="1400" dirty="0">
                <a:solidFill>
                  <a:srgbClr val="0E2B33"/>
                </a:solidFill>
                <a:latin typeface="Courier New" pitchFamily="34" charset="0"/>
                <a:ea typeface="Courier New" pitchFamily="34" charset="-122"/>
                <a:cs typeface="Courier New" pitchFamily="34" charset="-120"/>
              </a:rPr>
              <a:t>MONTELUKAST SOD.</a:t>
            </a:r>
            <a:endParaRPr lang="en-US" sz="1400" dirty="0"/>
          </a:p>
        </p:txBody>
      </p:sp>
      <p:sp>
        <p:nvSpPr>
          <p:cNvPr id="15" name="Shape 13"/>
          <p:cNvSpPr/>
          <p:nvPr/>
        </p:nvSpPr>
        <p:spPr>
          <a:xfrm>
            <a:off x="822960" y="5102352"/>
            <a:ext cx="4114800" cy="438912"/>
          </a:xfrm>
          <a:prstGeom prst="roundRect">
            <a:avLst>
              <a:gd name="adj" fmla="val 16667"/>
            </a:avLst>
          </a:prstGeom>
          <a:solidFill>
            <a:srgbClr val="F1F5F6"/>
          </a:solidFill>
          <a:ln/>
        </p:spPr>
      </p:sp>
      <p:sp>
        <p:nvSpPr>
          <p:cNvPr id="16" name="Text 14"/>
          <p:cNvSpPr/>
          <p:nvPr/>
        </p:nvSpPr>
        <p:spPr>
          <a:xfrm>
            <a:off x="1051560" y="5102352"/>
            <a:ext cx="3749040" cy="438912"/>
          </a:xfrm>
          <a:prstGeom prst="rect">
            <a:avLst/>
          </a:prstGeom>
          <a:noFill/>
          <a:ln/>
        </p:spPr>
        <p:txBody>
          <a:bodyPr wrap="square" lIns="0" tIns="0" rIns="0" bIns="0" rtlCol="0" anchor="ctr"/>
          <a:lstStyle/>
          <a:p>
            <a:pPr indent="0" marL="0">
              <a:buNone/>
            </a:pPr>
            <a:r>
              <a:rPr lang="en-US" sz="1400" dirty="0">
                <a:solidFill>
                  <a:srgbClr val="0E2B33"/>
                </a:solidFill>
                <a:latin typeface="Courier New" pitchFamily="34" charset="0"/>
                <a:ea typeface="Courier New" pitchFamily="34" charset="-122"/>
                <a:cs typeface="Courier New" pitchFamily="34" charset="-120"/>
              </a:rPr>
              <a:t>Singulair (montelukast)</a:t>
            </a:r>
            <a:endParaRPr lang="en-US" sz="1400" dirty="0"/>
          </a:p>
        </p:txBody>
      </p:sp>
      <p:sp>
        <p:nvSpPr>
          <p:cNvPr id="17" name="Shape 15"/>
          <p:cNvSpPr/>
          <p:nvPr/>
        </p:nvSpPr>
        <p:spPr>
          <a:xfrm>
            <a:off x="5212080" y="3566160"/>
            <a:ext cx="1097280" cy="457200"/>
          </a:xfrm>
          <a:prstGeom prst="rightArrow">
            <a:avLst/>
          </a:prstGeom>
          <a:solidFill>
            <a:srgbClr val="058C9B"/>
          </a:solidFill>
          <a:ln/>
        </p:spPr>
      </p:sp>
      <p:sp>
        <p:nvSpPr>
          <p:cNvPr id="18" name="Shape 16"/>
          <p:cNvSpPr/>
          <p:nvPr/>
        </p:nvSpPr>
        <p:spPr>
          <a:xfrm>
            <a:off x="6675120" y="3063240"/>
            <a:ext cx="4663440" cy="1463040"/>
          </a:xfrm>
          <a:prstGeom prst="roundRect">
            <a:avLst>
              <a:gd name="adj" fmla="val 7500"/>
            </a:avLst>
          </a:prstGeom>
          <a:solidFill>
            <a:srgbClr val="073B4C"/>
          </a:solidFill>
          <a:ln/>
          <a:effectLst>
            <a:outerShdw sx="100000" sy="100000" kx="0" ky="0" algn="bl" rotWithShape="0" blurRad="127000" dist="635" dir="5400000">
              <a:srgbClr val="9AAEB5">
                <a:alpha val="35000"/>
              </a:srgbClr>
            </a:outerShdw>
          </a:effectLst>
        </p:spPr>
      </p:sp>
      <p:sp>
        <p:nvSpPr>
          <p:cNvPr id="19" name="Text 17"/>
          <p:cNvSpPr/>
          <p:nvPr/>
        </p:nvSpPr>
        <p:spPr>
          <a:xfrm>
            <a:off x="6858000" y="3337560"/>
            <a:ext cx="4297680" cy="457200"/>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MONTELUKAST</a:t>
            </a:r>
            <a:endParaRPr lang="en-US" sz="2100" dirty="0"/>
          </a:p>
        </p:txBody>
      </p:sp>
      <p:sp>
        <p:nvSpPr>
          <p:cNvPr id="20" name="Text 18"/>
          <p:cNvSpPr/>
          <p:nvPr/>
        </p:nvSpPr>
        <p:spPr>
          <a:xfrm>
            <a:off x="6858000" y="3858768"/>
            <a:ext cx="4297680" cy="365760"/>
          </a:xfrm>
          <a:prstGeom prst="rect">
            <a:avLst/>
          </a:prstGeom>
          <a:noFill/>
          <a:ln/>
        </p:spPr>
        <p:txBody>
          <a:bodyPr wrap="square" lIns="0" tIns="0" rIns="0" bIns="0" rtlCol="0" anchor="ctr"/>
          <a:lstStyle/>
          <a:p>
            <a:pPr algn="ctr" indent="0" marL="0">
              <a:buNone/>
            </a:pPr>
            <a:r>
              <a:rPr lang="en-US" sz="1400" dirty="0">
                <a:solidFill>
                  <a:srgbClr val="9FD8CB"/>
                </a:solidFill>
                <a:latin typeface="Calibri" pitchFamily="34" charset="0"/>
                <a:ea typeface="Calibri" pitchFamily="34" charset="-122"/>
                <a:cs typeface="Calibri" pitchFamily="34" charset="-120"/>
              </a:rPr>
              <a:t>one ingredient · one count</a:t>
            </a:r>
            <a:endParaRPr lang="en-US" sz="1400" dirty="0"/>
          </a:p>
        </p:txBody>
      </p:sp>
      <p:sp>
        <p:nvSpPr>
          <p:cNvPr id="21" name="Text 19"/>
          <p:cNvSpPr/>
          <p:nvPr/>
        </p:nvSpPr>
        <p:spPr>
          <a:xfrm>
            <a:off x="822960" y="5532120"/>
            <a:ext cx="10515600" cy="822960"/>
          </a:xfrm>
          <a:prstGeom prst="rect">
            <a:avLst/>
          </a:prstGeom>
          <a:noFill/>
          <a:ln/>
        </p:spPr>
        <p:txBody>
          <a:bodyPr wrap="square" lIns="0" tIns="0" rIns="0" bIns="0" rtlCol="0" anchor="ctr"/>
          <a:lstStyle/>
          <a:p>
            <a:pPr indent="0" marL="0">
              <a:lnSpc>
                <a:spcPts val="2600"/>
              </a:lnSpc>
              <a:buNone/>
            </a:pPr>
            <a:r>
              <a:rPr lang="en-US" sz="1800" b="1" dirty="0">
                <a:solidFill>
                  <a:srgbClr val="EF6351"/>
                </a:solidFill>
                <a:latin typeface="Calibri" pitchFamily="34" charset="0"/>
                <a:ea typeface="Calibri" pitchFamily="34" charset="-122"/>
                <a:cs typeface="Calibri" pitchFamily="34" charset="-120"/>
              </a:rPr>
              <a:t>Leave them separate and one real signal splits into six weak ones — and disappears. Nothing errors. It is simply absent.</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3B4C"/>
        </a:solidFill>
      </p:bgPr>
    </p:bg>
    <p:spTree>
      <p:nvGrpSpPr>
        <p:cNvPr id="1" name=""/>
        <p:cNvGrpSpPr/>
        <p:nvPr/>
      </p:nvGrpSpPr>
      <p:grpSpPr>
        <a:xfrm>
          <a:off x="0" y="0"/>
          <a:ext cx="0" cy="0"/>
          <a:chOff x="0" y="0"/>
          <a:chExt cx="0" cy="0"/>
        </a:xfrm>
      </p:grpSpPr>
      <p:sp>
        <p:nvSpPr>
          <p:cNvPr id="2" name="Text 0"/>
          <p:cNvSpPr/>
          <p:nvPr/>
        </p:nvSpPr>
        <p:spPr>
          <a:xfrm>
            <a:off x="822960" y="475488"/>
            <a:ext cx="10515600" cy="292608"/>
          </a:xfrm>
          <a:prstGeom prst="rect">
            <a:avLst/>
          </a:prstGeom>
          <a:noFill/>
          <a:ln/>
        </p:spPr>
        <p:txBody>
          <a:bodyPr wrap="square" lIns="0" tIns="0" rIns="0" bIns="0" rtlCol="0" anchor="ctr"/>
          <a:lstStyle/>
          <a:p>
            <a:pPr indent="0" marL="0">
              <a:buNone/>
            </a:pPr>
            <a:r>
              <a:rPr lang="en-US" sz="1300" b="1" spc="240" kern="0" dirty="0">
                <a:solidFill>
                  <a:srgbClr val="9FD8CB"/>
                </a:solidFill>
                <a:latin typeface="Calibri" pitchFamily="34" charset="0"/>
                <a:ea typeface="Calibri" pitchFamily="34" charset="-122"/>
                <a:cs typeface="Calibri" pitchFamily="34" charset="-120"/>
              </a:rPr>
              <a:t>THE QUESTION NOBODY ELSE ANSWERS</a:t>
            </a:r>
            <a:endParaRPr lang="en-US" sz="1300" dirty="0"/>
          </a:p>
        </p:txBody>
      </p:sp>
      <p:sp>
        <p:nvSpPr>
          <p:cNvPr id="3" name="Text 1"/>
          <p:cNvSpPr/>
          <p:nvPr/>
        </p:nvSpPr>
        <p:spPr>
          <a:xfrm>
            <a:off x="822960" y="1371600"/>
            <a:ext cx="10515600" cy="1737360"/>
          </a:xfrm>
          <a:prstGeom prst="rect">
            <a:avLst/>
          </a:prstGeom>
          <a:noFill/>
          <a:ln/>
        </p:spPr>
        <p:txBody>
          <a:bodyPr wrap="square" lIns="0" tIns="0" rIns="0" bIns="0" rtlCol="0" anchor="ctr"/>
          <a:lstStyle/>
          <a:p>
            <a:pPr indent="0" marL="0">
              <a:lnSpc>
                <a:spcPts val="5600"/>
              </a:lnSpc>
              <a:buNone/>
            </a:pPr>
            <a:r>
              <a:rPr lang="en-US" sz="4400" b="1" dirty="0">
                <a:solidFill>
                  <a:srgbClr val="FFFFFF"/>
                </a:solidFill>
                <a:latin typeface="Cambria" pitchFamily="34" charset="0"/>
                <a:ea typeface="Cambria" pitchFamily="34" charset="-122"/>
                <a:cs typeface="Cambria" pitchFamily="34" charset="-120"/>
              </a:rPr>
              <a:t>How do you know</a:t>
            </a:r>
            <a:endParaRPr lang="en-US" sz="4400" dirty="0"/>
          </a:p>
          <a:p>
            <a:pPr indent="0" marL="0">
              <a:lnSpc>
                <a:spcPts val="5600"/>
              </a:lnSpc>
              <a:buNone/>
            </a:pPr>
            <a:r>
              <a:rPr lang="en-US" sz="4400" b="1" dirty="0">
                <a:solidFill>
                  <a:srgbClr val="FFFFFF"/>
                </a:solidFill>
                <a:latin typeface="Cambria" pitchFamily="34" charset="0"/>
                <a:ea typeface="Cambria" pitchFamily="34" charset="-122"/>
                <a:cs typeface="Cambria" pitchFamily="34" charset="-120"/>
              </a:rPr>
              <a:t>your detector works?</a:t>
            </a:r>
            <a:endParaRPr lang="en-US" sz="4400" dirty="0"/>
          </a:p>
        </p:txBody>
      </p:sp>
      <p:sp>
        <p:nvSpPr>
          <p:cNvPr id="4" name="Text 2"/>
          <p:cNvSpPr/>
          <p:nvPr/>
        </p:nvSpPr>
        <p:spPr>
          <a:xfrm>
            <a:off x="868680" y="3337560"/>
            <a:ext cx="9692640" cy="868680"/>
          </a:xfrm>
          <a:prstGeom prst="rect">
            <a:avLst/>
          </a:prstGeom>
          <a:noFill/>
          <a:ln/>
        </p:spPr>
        <p:txBody>
          <a:bodyPr wrap="square" lIns="0" tIns="0" rIns="0" bIns="0" rtlCol="0" anchor="ctr"/>
          <a:lstStyle/>
          <a:p>
            <a:pPr indent="0" marL="0">
              <a:lnSpc>
                <a:spcPts val="2900"/>
              </a:lnSpc>
              <a:buNone/>
            </a:pPr>
            <a:r>
              <a:rPr lang="en-US" sz="2000" dirty="0">
                <a:solidFill>
                  <a:srgbClr val="7FB3C0"/>
                </a:solidFill>
                <a:latin typeface="Calibri" pitchFamily="34" charset="0"/>
                <a:ea typeface="Calibri" pitchFamily="34" charset="-122"/>
                <a:cs typeface="Calibri" pitchFamily="34" charset="-120"/>
              </a:rPr>
              <a:t>On real data you can't. Nobody knows the true list of dangerous drug pairs, so you publish your findings and hope.</a:t>
            </a:r>
            <a:endParaRPr lang="en-US" sz="2000" dirty="0"/>
          </a:p>
        </p:txBody>
      </p:sp>
      <p:sp>
        <p:nvSpPr>
          <p:cNvPr id="5" name="Text 3"/>
          <p:cNvSpPr/>
          <p:nvPr/>
        </p:nvSpPr>
        <p:spPr>
          <a:xfrm>
            <a:off x="868680" y="4343400"/>
            <a:ext cx="9692640" cy="548640"/>
          </a:xfrm>
          <a:prstGeom prst="rect">
            <a:avLst/>
          </a:prstGeom>
          <a:noFill/>
          <a:ln/>
        </p:spPr>
        <p:txBody>
          <a:bodyPr wrap="square" lIns="0" tIns="0" rIns="0" bIns="0" rtlCol="0" anchor="ctr"/>
          <a:lstStyle/>
          <a:p>
            <a:pPr indent="0" marL="0">
              <a:buNone/>
            </a:pPr>
            <a:r>
              <a:rPr lang="en-US" sz="2700" b="1" dirty="0">
                <a:solidFill>
                  <a:srgbClr val="9FD8CB"/>
                </a:solidFill>
                <a:latin typeface="Cambria" pitchFamily="34" charset="0"/>
                <a:ea typeface="Cambria" pitchFamily="34" charset="-122"/>
                <a:cs typeface="Cambria" pitchFamily="34" charset="-120"/>
              </a:rPr>
              <a:t>So I built a test set where I know the answer.</a:t>
            </a:r>
            <a:endParaRPr lang="en-US" sz="2700" dirty="0"/>
          </a:p>
        </p:txBody>
      </p:sp>
      <p:sp>
        <p:nvSpPr>
          <p:cNvPr id="6" name="Text 4"/>
          <p:cNvSpPr/>
          <p:nvPr/>
        </p:nvSpPr>
        <p:spPr>
          <a:xfrm>
            <a:off x="868680" y="5029200"/>
            <a:ext cx="9692640" cy="914400"/>
          </a:xfrm>
          <a:prstGeom prst="rect">
            <a:avLst/>
          </a:prstGeom>
          <a:noFill/>
          <a:ln/>
        </p:spPr>
        <p:txBody>
          <a:bodyPr wrap="square" lIns="0" tIns="0" rIns="0" bIns="0" rtlCol="0" anchor="ctr"/>
          <a:lstStyle/>
          <a:p>
            <a:pPr indent="0" marL="0">
              <a:lnSpc>
                <a:spcPts val="2600"/>
              </a:lnSpc>
              <a:buNone/>
            </a:pPr>
            <a:r>
              <a:rPr lang="en-US" sz="1800" dirty="0">
                <a:solidFill>
                  <a:srgbClr val="7FB3C0"/>
                </a:solidFill>
                <a:latin typeface="Calibri" pitchFamily="34" charset="0"/>
                <a:ea typeface="Calibri" pitchFamily="34" charset="-122"/>
                <a:cs typeface="Calibri" pitchFamily="34" charset="-120"/>
              </a:rPr>
              <a:t>A realistic synthetic dataset with 43 dangerous pairs deliberately hidden inside it, plus thousands of innocent ones. Then I measured how many the engine actually found.</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475488"/>
            <a:ext cx="10515600" cy="292608"/>
          </a:xfrm>
          <a:prstGeom prst="rect">
            <a:avLst/>
          </a:prstGeom>
          <a:noFill/>
          <a:ln/>
        </p:spPr>
        <p:txBody>
          <a:bodyPr wrap="square" lIns="0" tIns="0" rIns="0" bIns="0" rtlCol="0" anchor="ctr"/>
          <a:lstStyle/>
          <a:p>
            <a:pPr indent="0" marL="0">
              <a:buNone/>
            </a:pPr>
            <a:r>
              <a:rPr lang="en-US" sz="1300" b="1" spc="240" kern="0" dirty="0">
                <a:solidFill>
                  <a:srgbClr val="058C9B"/>
                </a:solidFill>
                <a:latin typeface="Calibri" pitchFamily="34" charset="0"/>
                <a:ea typeface="Calibri" pitchFamily="34" charset="-122"/>
                <a:cs typeface="Calibri" pitchFamily="34" charset="-120"/>
              </a:rPr>
              <a:t>WHY THIS IS GENUINELY HARD</a:t>
            </a:r>
            <a:endParaRPr lang="en-US" sz="1300" dirty="0"/>
          </a:p>
        </p:txBody>
      </p:sp>
      <p:sp>
        <p:nvSpPr>
          <p:cNvPr id="3" name="Text 1"/>
          <p:cNvSpPr/>
          <p:nvPr/>
        </p:nvSpPr>
        <p:spPr>
          <a:xfrm>
            <a:off x="822960" y="868680"/>
            <a:ext cx="10515600" cy="1051560"/>
          </a:xfrm>
          <a:prstGeom prst="rect">
            <a:avLst/>
          </a:prstGeom>
          <a:noFill/>
          <a:ln/>
        </p:spPr>
        <p:txBody>
          <a:bodyPr wrap="square" lIns="0" tIns="0" rIns="0" bIns="0" rtlCol="0" anchor="t"/>
          <a:lstStyle/>
          <a:p>
            <a:pPr indent="0" marL="0">
              <a:buNone/>
            </a:pPr>
            <a:r>
              <a:rPr lang="en-US" sz="4000" b="1" dirty="0">
                <a:solidFill>
                  <a:srgbClr val="0E2B33"/>
                </a:solidFill>
                <a:latin typeface="Cambria" pitchFamily="34" charset="0"/>
                <a:ea typeface="Cambria" pitchFamily="34" charset="-122"/>
                <a:cs typeface="Cambria" pitchFamily="34" charset="-120"/>
              </a:rPr>
              <a:t>1 real signal per 73 candidates</a:t>
            </a:r>
            <a:endParaRPr lang="en-US" sz="4000" dirty="0"/>
          </a:p>
        </p:txBody>
      </p:sp>
      <p:sp>
        <p:nvSpPr>
          <p:cNvPr id="4" name="Text 2"/>
          <p:cNvSpPr/>
          <p:nvPr/>
        </p:nvSpPr>
        <p:spPr>
          <a:xfrm>
            <a:off x="822960" y="1920240"/>
            <a:ext cx="10241280" cy="914400"/>
          </a:xfrm>
          <a:prstGeom prst="rect">
            <a:avLst/>
          </a:prstGeom>
          <a:noFill/>
          <a:ln/>
        </p:spPr>
        <p:txBody>
          <a:bodyPr wrap="square" lIns="0" tIns="0" rIns="0" bIns="0" rtlCol="0" anchor="ctr"/>
          <a:lstStyle/>
          <a:p>
            <a:pPr indent="0" marL="0">
              <a:lnSpc>
                <a:spcPts val="2900"/>
              </a:lnSpc>
              <a:buNone/>
            </a:pPr>
            <a:r>
              <a:rPr lang="en-US" sz="2000" dirty="0">
                <a:solidFill>
                  <a:srgbClr val="5B7480"/>
                </a:solidFill>
                <a:latin typeface="Calibri" pitchFamily="34" charset="0"/>
                <a:ea typeface="Calibri" pitchFamily="34" charset="-122"/>
                <a:cs typeface="Calibri" pitchFamily="34" charset="-120"/>
              </a:rPr>
              <a:t>Rarity is the whole difficulty. When almost everything you test is innocent, even a very accurate test drowns you in false alarms.</a:t>
            </a:r>
            <a:endParaRPr lang="en-US" sz="2000" dirty="0"/>
          </a:p>
        </p:txBody>
      </p:sp>
      <p:sp>
        <p:nvSpPr>
          <p:cNvPr id="5" name="Text 3"/>
          <p:cNvSpPr/>
          <p:nvPr/>
        </p:nvSpPr>
        <p:spPr>
          <a:xfrm>
            <a:off x="822960" y="3017520"/>
            <a:ext cx="2377440" cy="548640"/>
          </a:xfrm>
          <a:prstGeom prst="rect">
            <a:avLst/>
          </a:prstGeom>
          <a:noFill/>
          <a:ln/>
        </p:spPr>
        <p:txBody>
          <a:bodyPr wrap="square" lIns="0" tIns="0" rIns="0" bIns="0" rtlCol="0" anchor="ctr"/>
          <a:lstStyle/>
          <a:p>
            <a:pPr indent="0" marL="0">
              <a:buNone/>
            </a:pPr>
            <a:r>
              <a:rPr lang="en-US" sz="1700" dirty="0">
                <a:solidFill>
                  <a:srgbClr val="0E2B33"/>
                </a:solidFill>
                <a:latin typeface="Calibri" pitchFamily="34" charset="0"/>
                <a:ea typeface="Calibri" pitchFamily="34" charset="-122"/>
                <a:cs typeface="Calibri" pitchFamily="34" charset="-120"/>
              </a:rPr>
              <a:t>Pairs examined</a:t>
            </a:r>
            <a:endParaRPr lang="en-US" sz="1700" dirty="0"/>
          </a:p>
        </p:txBody>
      </p:sp>
      <p:sp>
        <p:nvSpPr>
          <p:cNvPr id="6" name="Shape 4"/>
          <p:cNvSpPr/>
          <p:nvPr/>
        </p:nvSpPr>
        <p:spPr>
          <a:xfrm>
            <a:off x="3383280" y="3099816"/>
            <a:ext cx="7863840" cy="402336"/>
          </a:xfrm>
          <a:prstGeom prst="roundRect">
            <a:avLst>
              <a:gd name="adj" fmla="val 13636"/>
            </a:avLst>
          </a:prstGeom>
          <a:solidFill>
            <a:srgbClr val="058C9B"/>
          </a:solidFill>
          <a:ln/>
        </p:spPr>
      </p:sp>
      <p:sp>
        <p:nvSpPr>
          <p:cNvPr id="7" name="Text 5"/>
          <p:cNvSpPr/>
          <p:nvPr/>
        </p:nvSpPr>
        <p:spPr>
          <a:xfrm>
            <a:off x="11411712" y="3017520"/>
            <a:ext cx="1828800" cy="548640"/>
          </a:xfrm>
          <a:prstGeom prst="rect">
            <a:avLst/>
          </a:prstGeom>
          <a:noFill/>
          <a:ln/>
        </p:spPr>
        <p:txBody>
          <a:bodyPr wrap="square" lIns="0" tIns="0" rIns="0" bIns="0" rtlCol="0" anchor="ctr"/>
          <a:lstStyle/>
          <a:p>
            <a:pPr indent="0" marL="0">
              <a:buNone/>
            </a:pPr>
            <a:r>
              <a:rPr lang="en-US" sz="2200" b="1" dirty="0">
                <a:solidFill>
                  <a:srgbClr val="058C9B"/>
                </a:solidFill>
                <a:latin typeface="Cambria" pitchFamily="34" charset="0"/>
                <a:ea typeface="Cambria" pitchFamily="34" charset="-122"/>
                <a:cs typeface="Cambria" pitchFamily="34" charset="-120"/>
              </a:rPr>
              <a:t>3,160</a:t>
            </a:r>
            <a:endParaRPr lang="en-US" sz="2200" dirty="0"/>
          </a:p>
        </p:txBody>
      </p:sp>
      <p:sp>
        <p:nvSpPr>
          <p:cNvPr id="8" name="Text 6"/>
          <p:cNvSpPr/>
          <p:nvPr/>
        </p:nvSpPr>
        <p:spPr>
          <a:xfrm>
            <a:off x="822960" y="4160520"/>
            <a:ext cx="2377440" cy="548640"/>
          </a:xfrm>
          <a:prstGeom prst="rect">
            <a:avLst/>
          </a:prstGeom>
          <a:noFill/>
          <a:ln/>
        </p:spPr>
        <p:txBody>
          <a:bodyPr wrap="square" lIns="0" tIns="0" rIns="0" bIns="0" rtlCol="0" anchor="ctr"/>
          <a:lstStyle/>
          <a:p>
            <a:pPr indent="0" marL="0">
              <a:buNone/>
            </a:pPr>
            <a:r>
              <a:rPr lang="en-US" sz="1700" dirty="0">
                <a:solidFill>
                  <a:srgbClr val="0E2B33"/>
                </a:solidFill>
                <a:latin typeface="Calibri" pitchFamily="34" charset="0"/>
                <a:ea typeface="Calibri" pitchFamily="34" charset="-122"/>
                <a:cs typeface="Calibri" pitchFamily="34" charset="-120"/>
              </a:rPr>
              <a:t>Actually dangerous</a:t>
            </a:r>
            <a:endParaRPr lang="en-US" sz="1700" dirty="0"/>
          </a:p>
        </p:txBody>
      </p:sp>
      <p:sp>
        <p:nvSpPr>
          <p:cNvPr id="9" name="Shape 7"/>
          <p:cNvSpPr/>
          <p:nvPr/>
        </p:nvSpPr>
        <p:spPr>
          <a:xfrm>
            <a:off x="3383280" y="4242816"/>
            <a:ext cx="502920" cy="402336"/>
          </a:xfrm>
          <a:prstGeom prst="roundRect">
            <a:avLst>
              <a:gd name="adj" fmla="val 13636"/>
            </a:avLst>
          </a:prstGeom>
          <a:solidFill>
            <a:srgbClr val="EF6351"/>
          </a:solidFill>
          <a:ln/>
        </p:spPr>
      </p:sp>
      <p:sp>
        <p:nvSpPr>
          <p:cNvPr id="10" name="Text 8"/>
          <p:cNvSpPr/>
          <p:nvPr/>
        </p:nvSpPr>
        <p:spPr>
          <a:xfrm>
            <a:off x="4050792" y="4160520"/>
            <a:ext cx="1828800" cy="548640"/>
          </a:xfrm>
          <a:prstGeom prst="rect">
            <a:avLst/>
          </a:prstGeom>
          <a:noFill/>
          <a:ln/>
        </p:spPr>
        <p:txBody>
          <a:bodyPr wrap="square" lIns="0" tIns="0" rIns="0" bIns="0" rtlCol="0" anchor="ctr"/>
          <a:lstStyle/>
          <a:p>
            <a:pPr indent="0" marL="0">
              <a:buNone/>
            </a:pPr>
            <a:r>
              <a:rPr lang="en-US" sz="2200" b="1" dirty="0">
                <a:solidFill>
                  <a:srgbClr val="EF6351"/>
                </a:solidFill>
                <a:latin typeface="Cambria" pitchFamily="34" charset="0"/>
                <a:ea typeface="Cambria" pitchFamily="34" charset="-122"/>
                <a:cs typeface="Cambria" pitchFamily="34" charset="-120"/>
              </a:rPr>
              <a:t>43</a:t>
            </a:r>
            <a:endParaRPr lang="en-US" sz="2200" dirty="0"/>
          </a:p>
        </p:txBody>
      </p:sp>
      <p:sp>
        <p:nvSpPr>
          <p:cNvPr id="11" name="Text 9"/>
          <p:cNvSpPr/>
          <p:nvPr/>
        </p:nvSpPr>
        <p:spPr>
          <a:xfrm>
            <a:off x="822960" y="5486400"/>
            <a:ext cx="10515600" cy="1005840"/>
          </a:xfrm>
          <a:prstGeom prst="rect">
            <a:avLst/>
          </a:prstGeom>
          <a:noFill/>
          <a:ln/>
        </p:spPr>
        <p:txBody>
          <a:bodyPr wrap="square" lIns="0" tIns="0" rIns="0" bIns="0" rtlCol="0" anchor="ctr"/>
          <a:lstStyle/>
          <a:p>
            <a:pPr indent="0" marL="0">
              <a:lnSpc>
                <a:spcPts val="2600"/>
              </a:lnSpc>
              <a:buNone/>
            </a:pPr>
            <a:r>
              <a:rPr lang="en-US" sz="1800" dirty="0">
                <a:solidFill>
                  <a:srgbClr val="0E2B33"/>
                </a:solidFill>
                <a:latin typeface="Calibri" pitchFamily="34" charset="0"/>
                <a:ea typeface="Calibri" pitchFamily="34" charset="-122"/>
                <a:cs typeface="Calibri" pitchFamily="34" charset="-120"/>
              </a:rPr>
              <a:t>A screen that is 95% accurate would still hand back more false alarms than real findings. At this base rate, precision is decided by the false-positive rate — not by how many real ones you catch.</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475488"/>
            <a:ext cx="10515600" cy="292608"/>
          </a:xfrm>
          <a:prstGeom prst="rect">
            <a:avLst/>
          </a:prstGeom>
          <a:noFill/>
          <a:ln/>
        </p:spPr>
        <p:txBody>
          <a:bodyPr wrap="square" lIns="0" tIns="0" rIns="0" bIns="0" rtlCol="0" anchor="ctr"/>
          <a:lstStyle/>
          <a:p>
            <a:pPr indent="0" marL="0">
              <a:buNone/>
            </a:pPr>
            <a:r>
              <a:rPr lang="en-US" sz="1300" b="1" spc="240" kern="0" dirty="0">
                <a:solidFill>
                  <a:srgbClr val="058C9B"/>
                </a:solidFill>
                <a:latin typeface="Calibri" pitchFamily="34" charset="0"/>
                <a:ea typeface="Calibri" pitchFamily="34" charset="-122"/>
                <a:cs typeface="Calibri" pitchFamily="34" charset="-120"/>
              </a:rPr>
              <a:t>RESULTS</a:t>
            </a:r>
            <a:endParaRPr lang="en-US" sz="1300" dirty="0"/>
          </a:p>
        </p:txBody>
      </p:sp>
      <p:sp>
        <p:nvSpPr>
          <p:cNvPr id="3" name="Text 1"/>
          <p:cNvSpPr/>
          <p:nvPr/>
        </p:nvSpPr>
        <p:spPr>
          <a:xfrm>
            <a:off x="822960" y="868680"/>
            <a:ext cx="10515600" cy="1051560"/>
          </a:xfrm>
          <a:prstGeom prst="rect">
            <a:avLst/>
          </a:prstGeom>
          <a:noFill/>
          <a:ln/>
        </p:spPr>
        <p:txBody>
          <a:bodyPr wrap="square" lIns="0" tIns="0" rIns="0" bIns="0" rtlCol="0" anchor="t"/>
          <a:lstStyle/>
          <a:p>
            <a:pPr indent="0" marL="0">
              <a:buNone/>
            </a:pPr>
            <a:r>
              <a:rPr lang="en-US" sz="4000" b="1" dirty="0">
                <a:solidFill>
                  <a:srgbClr val="0E2B33"/>
                </a:solidFill>
                <a:latin typeface="Cambria" pitchFamily="34" charset="0"/>
                <a:ea typeface="Cambria" pitchFamily="34" charset="-122"/>
                <a:cs typeface="Cambria" pitchFamily="34" charset="-120"/>
              </a:rPr>
              <a:t>33 of 43 found. Zero false alarms.</a:t>
            </a:r>
            <a:endParaRPr lang="en-US" sz="4000" dirty="0"/>
          </a:p>
        </p:txBody>
      </p:sp>
      <p:sp>
        <p:nvSpPr>
          <p:cNvPr id="4" name="Shape 2"/>
          <p:cNvSpPr/>
          <p:nvPr/>
        </p:nvSpPr>
        <p:spPr>
          <a:xfrm>
            <a:off x="822960" y="2286000"/>
            <a:ext cx="3246120" cy="2148840"/>
          </a:xfrm>
          <a:prstGeom prst="roundRect">
            <a:avLst>
              <a:gd name="adj" fmla="val 5106"/>
            </a:avLst>
          </a:prstGeom>
          <a:solidFill>
            <a:srgbClr val="F1F5F6"/>
          </a:solidFill>
          <a:ln/>
          <a:effectLst>
            <a:outerShdw sx="100000" sy="100000" kx="0" ky="0" algn="bl" rotWithShape="0" blurRad="127000" dist="635" dir="5400000">
              <a:srgbClr val="9AAEB5">
                <a:alpha val="35000"/>
              </a:srgbClr>
            </a:outerShdw>
          </a:effectLst>
        </p:spPr>
      </p:sp>
      <p:sp>
        <p:nvSpPr>
          <p:cNvPr id="5" name="Text 3"/>
          <p:cNvSpPr/>
          <p:nvPr/>
        </p:nvSpPr>
        <p:spPr>
          <a:xfrm>
            <a:off x="960120" y="2606040"/>
            <a:ext cx="2971800" cy="914400"/>
          </a:xfrm>
          <a:prstGeom prst="rect">
            <a:avLst/>
          </a:prstGeom>
          <a:noFill/>
          <a:ln/>
        </p:spPr>
        <p:txBody>
          <a:bodyPr wrap="square" lIns="0" tIns="0" rIns="0" bIns="0" rtlCol="0" anchor="ctr"/>
          <a:lstStyle/>
          <a:p>
            <a:pPr algn="ctr" indent="0" marL="0">
              <a:buNone/>
            </a:pPr>
            <a:r>
              <a:rPr lang="en-US" sz="4400" b="1" dirty="0">
                <a:solidFill>
                  <a:srgbClr val="058C9B"/>
                </a:solidFill>
                <a:latin typeface="Cambria" pitchFamily="34" charset="0"/>
                <a:ea typeface="Cambria" pitchFamily="34" charset="-122"/>
                <a:cs typeface="Cambria" pitchFamily="34" charset="-120"/>
              </a:rPr>
              <a:t>33 / 43</a:t>
            </a:r>
            <a:endParaRPr lang="en-US" sz="4400" dirty="0"/>
          </a:p>
        </p:txBody>
      </p:sp>
      <p:sp>
        <p:nvSpPr>
          <p:cNvPr id="6" name="Text 4"/>
          <p:cNvSpPr/>
          <p:nvPr/>
        </p:nvSpPr>
        <p:spPr>
          <a:xfrm>
            <a:off x="960120" y="3611880"/>
            <a:ext cx="2971800" cy="640080"/>
          </a:xfrm>
          <a:prstGeom prst="rect">
            <a:avLst/>
          </a:prstGeom>
          <a:noFill/>
          <a:ln/>
        </p:spPr>
        <p:txBody>
          <a:bodyPr wrap="square" lIns="0" tIns="0" rIns="0" bIns="0" rtlCol="0" anchor="ctr"/>
          <a:lstStyle/>
          <a:p>
            <a:pPr algn="ctr" indent="0" marL="0">
              <a:lnSpc>
                <a:spcPts val="2100"/>
              </a:lnSpc>
              <a:buNone/>
            </a:pPr>
            <a:r>
              <a:rPr lang="en-US" sz="1600" dirty="0">
                <a:solidFill>
                  <a:srgbClr val="0E2B33"/>
                </a:solidFill>
                <a:latin typeface="Calibri" pitchFamily="34" charset="0"/>
                <a:ea typeface="Calibri" pitchFamily="34" charset="-122"/>
                <a:cs typeface="Calibri" pitchFamily="34" charset="-120"/>
              </a:rPr>
              <a:t>hidden pairs found</a:t>
            </a:r>
            <a:endParaRPr lang="en-US" sz="1600" dirty="0"/>
          </a:p>
        </p:txBody>
      </p:sp>
      <p:sp>
        <p:nvSpPr>
          <p:cNvPr id="7" name="Shape 5"/>
          <p:cNvSpPr/>
          <p:nvPr/>
        </p:nvSpPr>
        <p:spPr>
          <a:xfrm>
            <a:off x="4434840" y="2286000"/>
            <a:ext cx="3246120" cy="2148840"/>
          </a:xfrm>
          <a:prstGeom prst="roundRect">
            <a:avLst>
              <a:gd name="adj" fmla="val 5106"/>
            </a:avLst>
          </a:prstGeom>
          <a:solidFill>
            <a:srgbClr val="F1F5F6"/>
          </a:solidFill>
          <a:ln/>
          <a:effectLst>
            <a:outerShdw sx="100000" sy="100000" kx="0" ky="0" algn="bl" rotWithShape="0" blurRad="127000" dist="635" dir="5400000">
              <a:srgbClr val="9AAEB5">
                <a:alpha val="35000"/>
              </a:srgbClr>
            </a:outerShdw>
          </a:effectLst>
        </p:spPr>
      </p:sp>
      <p:sp>
        <p:nvSpPr>
          <p:cNvPr id="8" name="Text 6"/>
          <p:cNvSpPr/>
          <p:nvPr/>
        </p:nvSpPr>
        <p:spPr>
          <a:xfrm>
            <a:off x="4572000" y="2606040"/>
            <a:ext cx="2971800" cy="914400"/>
          </a:xfrm>
          <a:prstGeom prst="rect">
            <a:avLst/>
          </a:prstGeom>
          <a:noFill/>
          <a:ln/>
        </p:spPr>
        <p:txBody>
          <a:bodyPr wrap="square" lIns="0" tIns="0" rIns="0" bIns="0" rtlCol="0" anchor="ctr"/>
          <a:lstStyle/>
          <a:p>
            <a:pPr algn="ctr" indent="0" marL="0">
              <a:buNone/>
            </a:pPr>
            <a:r>
              <a:rPr lang="en-US" sz="4400" b="1" dirty="0">
                <a:solidFill>
                  <a:srgbClr val="073B4C"/>
                </a:solidFill>
                <a:latin typeface="Cambria" pitchFamily="34" charset="0"/>
                <a:ea typeface="Cambria" pitchFamily="34" charset="-122"/>
                <a:cs typeface="Cambria" pitchFamily="34" charset="-120"/>
              </a:rPr>
              <a:t>0</a:t>
            </a:r>
            <a:endParaRPr lang="en-US" sz="4400" dirty="0"/>
          </a:p>
        </p:txBody>
      </p:sp>
      <p:sp>
        <p:nvSpPr>
          <p:cNvPr id="9" name="Text 7"/>
          <p:cNvSpPr/>
          <p:nvPr/>
        </p:nvSpPr>
        <p:spPr>
          <a:xfrm>
            <a:off x="4572000" y="3611880"/>
            <a:ext cx="2971800" cy="640080"/>
          </a:xfrm>
          <a:prstGeom prst="rect">
            <a:avLst/>
          </a:prstGeom>
          <a:noFill/>
          <a:ln/>
        </p:spPr>
        <p:txBody>
          <a:bodyPr wrap="square" lIns="0" tIns="0" rIns="0" bIns="0" rtlCol="0" anchor="ctr"/>
          <a:lstStyle/>
          <a:p>
            <a:pPr algn="ctr" indent="0" marL="0">
              <a:lnSpc>
                <a:spcPts val="2100"/>
              </a:lnSpc>
              <a:buNone/>
            </a:pPr>
            <a:r>
              <a:rPr lang="en-US" sz="1600" dirty="0">
                <a:solidFill>
                  <a:srgbClr val="0E2B33"/>
                </a:solidFill>
                <a:latin typeface="Calibri" pitchFamily="34" charset="0"/>
                <a:ea typeface="Calibri" pitchFamily="34" charset="-122"/>
                <a:cs typeface="Calibri" pitchFamily="34" charset="-120"/>
              </a:rPr>
              <a:t>false alarms in 3,160</a:t>
            </a:r>
            <a:endParaRPr lang="en-US" sz="1600" dirty="0"/>
          </a:p>
        </p:txBody>
      </p:sp>
      <p:sp>
        <p:nvSpPr>
          <p:cNvPr id="10" name="Shape 8"/>
          <p:cNvSpPr/>
          <p:nvPr/>
        </p:nvSpPr>
        <p:spPr>
          <a:xfrm>
            <a:off x="8046720" y="2286000"/>
            <a:ext cx="3246120" cy="2148840"/>
          </a:xfrm>
          <a:prstGeom prst="roundRect">
            <a:avLst>
              <a:gd name="adj" fmla="val 5106"/>
            </a:avLst>
          </a:prstGeom>
          <a:solidFill>
            <a:srgbClr val="F1F5F6"/>
          </a:solidFill>
          <a:ln/>
          <a:effectLst>
            <a:outerShdw sx="100000" sy="100000" kx="0" ky="0" algn="bl" rotWithShape="0" blurRad="127000" dist="635" dir="5400000">
              <a:srgbClr val="9AAEB5">
                <a:alpha val="35000"/>
              </a:srgbClr>
            </a:outerShdw>
          </a:effectLst>
        </p:spPr>
      </p:sp>
      <p:sp>
        <p:nvSpPr>
          <p:cNvPr id="11" name="Text 9"/>
          <p:cNvSpPr/>
          <p:nvPr/>
        </p:nvSpPr>
        <p:spPr>
          <a:xfrm>
            <a:off x="8183880" y="2606040"/>
            <a:ext cx="2971800" cy="914400"/>
          </a:xfrm>
          <a:prstGeom prst="rect">
            <a:avLst/>
          </a:prstGeom>
          <a:noFill/>
          <a:ln/>
        </p:spPr>
        <p:txBody>
          <a:bodyPr wrap="square" lIns="0" tIns="0" rIns="0" bIns="0" rtlCol="0" anchor="ctr"/>
          <a:lstStyle/>
          <a:p>
            <a:pPr algn="ctr" indent="0" marL="0">
              <a:buNone/>
            </a:pPr>
            <a:r>
              <a:rPr lang="en-US" sz="4400" b="1" dirty="0">
                <a:solidFill>
                  <a:srgbClr val="EF6351"/>
                </a:solidFill>
                <a:latin typeface="Cambria" pitchFamily="34" charset="0"/>
                <a:ea typeface="Cambria" pitchFamily="34" charset="-122"/>
                <a:cs typeface="Cambria" pitchFamily="34" charset="-120"/>
              </a:rPr>
              <a:t>6</a:t>
            </a:r>
            <a:endParaRPr lang="en-US" sz="4400" dirty="0"/>
          </a:p>
        </p:txBody>
      </p:sp>
      <p:sp>
        <p:nvSpPr>
          <p:cNvPr id="12" name="Text 10"/>
          <p:cNvSpPr/>
          <p:nvPr/>
        </p:nvSpPr>
        <p:spPr>
          <a:xfrm>
            <a:off x="8183880" y="3611880"/>
            <a:ext cx="2971800" cy="640080"/>
          </a:xfrm>
          <a:prstGeom prst="rect">
            <a:avLst/>
          </a:prstGeom>
          <a:noFill/>
          <a:ln/>
        </p:spPr>
        <p:txBody>
          <a:bodyPr wrap="square" lIns="0" tIns="0" rIns="0" bIns="0" rtlCol="0" anchor="ctr"/>
          <a:lstStyle/>
          <a:p>
            <a:pPr algn="ctr" indent="0" marL="0">
              <a:lnSpc>
                <a:spcPts val="2100"/>
              </a:lnSpc>
              <a:buNone/>
            </a:pPr>
            <a:r>
              <a:rPr lang="en-US" sz="1600" dirty="0">
                <a:solidFill>
                  <a:srgbClr val="0E2B33"/>
                </a:solidFill>
                <a:latin typeface="Calibri" pitchFamily="34" charset="0"/>
                <a:ea typeface="Calibri" pitchFamily="34" charset="-122"/>
                <a:cs typeface="Calibri" pitchFamily="34" charset="-120"/>
              </a:rPr>
              <a:t>held out of the answer key, and recovered</a:t>
            </a:r>
            <a:endParaRPr lang="en-US" sz="1600" dirty="0"/>
          </a:p>
        </p:txBody>
      </p:sp>
      <p:sp>
        <p:nvSpPr>
          <p:cNvPr id="13" name="Text 11"/>
          <p:cNvSpPr/>
          <p:nvPr/>
        </p:nvSpPr>
        <p:spPr>
          <a:xfrm>
            <a:off x="822960" y="4846320"/>
            <a:ext cx="10515600" cy="548640"/>
          </a:xfrm>
          <a:prstGeom prst="rect">
            <a:avLst/>
          </a:prstGeom>
          <a:noFill/>
          <a:ln/>
        </p:spPr>
        <p:txBody>
          <a:bodyPr wrap="square" lIns="0" tIns="0" rIns="0" bIns="0" rtlCol="0" anchor="ctr"/>
          <a:lstStyle/>
          <a:p>
            <a:pPr indent="0" marL="0">
              <a:buNone/>
            </a:pPr>
            <a:r>
              <a:rPr lang="en-US" sz="2400" b="1" dirty="0">
                <a:solidFill>
                  <a:srgbClr val="073B4C"/>
                </a:solidFill>
                <a:latin typeface="Cambria" pitchFamily="34" charset="0"/>
                <a:ea typeface="Cambria" pitchFamily="34" charset="-122"/>
                <a:cs typeface="Cambria" pitchFamily="34" charset="-120"/>
              </a:rPr>
              <a:t>It missed 10 — and knowing exactly which ones is the more useful result.</a:t>
            </a:r>
            <a:endParaRPr lang="en-US" sz="2400" dirty="0"/>
          </a:p>
        </p:txBody>
      </p:sp>
      <p:sp>
        <p:nvSpPr>
          <p:cNvPr id="14" name="Text 12"/>
          <p:cNvSpPr/>
          <p:nvPr/>
        </p:nvSpPr>
        <p:spPr>
          <a:xfrm>
            <a:off x="822960" y="5532120"/>
            <a:ext cx="10515600" cy="731520"/>
          </a:xfrm>
          <a:prstGeom prst="rect">
            <a:avLst/>
          </a:prstGeom>
          <a:noFill/>
          <a:ln/>
        </p:spPr>
        <p:txBody>
          <a:bodyPr wrap="square" lIns="0" tIns="0" rIns="0" bIns="0" rtlCol="0" anchor="ctr"/>
          <a:lstStyle/>
          <a:p>
            <a:pPr indent="0" marL="0">
              <a:lnSpc>
                <a:spcPts val="2400"/>
              </a:lnSpc>
              <a:buNone/>
            </a:pPr>
            <a:r>
              <a:rPr lang="en-US" sz="1700" dirty="0">
                <a:solidFill>
                  <a:srgbClr val="5B7480"/>
                </a:solidFill>
                <a:latin typeface="Calibri" pitchFamily="34" charset="0"/>
                <a:ea typeface="Calibri" pitchFamily="34" charset="-122"/>
                <a:cs typeface="Calibri" pitchFamily="34" charset="-120"/>
              </a:rPr>
              <a:t>Every miss was a deliberately weak signal. The next slide shows precisely where the method gives out.</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475488"/>
            <a:ext cx="10515600" cy="292608"/>
          </a:xfrm>
          <a:prstGeom prst="rect">
            <a:avLst/>
          </a:prstGeom>
          <a:noFill/>
          <a:ln/>
        </p:spPr>
        <p:txBody>
          <a:bodyPr wrap="square" lIns="0" tIns="0" rIns="0" bIns="0" rtlCol="0" anchor="ctr"/>
          <a:lstStyle/>
          <a:p>
            <a:pPr indent="0" marL="0">
              <a:buNone/>
            </a:pPr>
            <a:r>
              <a:rPr lang="en-US" sz="1300" b="1" spc="240" kern="0" dirty="0">
                <a:solidFill>
                  <a:srgbClr val="058C9B"/>
                </a:solidFill>
                <a:latin typeface="Calibri" pitchFamily="34" charset="0"/>
                <a:ea typeface="Calibri" pitchFamily="34" charset="-122"/>
                <a:cs typeface="Calibri" pitchFamily="34" charset="-120"/>
              </a:rPr>
              <a:t>THE HONEST PART</a:t>
            </a:r>
            <a:endParaRPr lang="en-US" sz="1300" dirty="0"/>
          </a:p>
        </p:txBody>
      </p:sp>
      <p:sp>
        <p:nvSpPr>
          <p:cNvPr id="3" name="Text 1"/>
          <p:cNvSpPr/>
          <p:nvPr/>
        </p:nvSpPr>
        <p:spPr>
          <a:xfrm>
            <a:off x="822960" y="868680"/>
            <a:ext cx="10515600" cy="1051560"/>
          </a:xfrm>
          <a:prstGeom prst="rect">
            <a:avLst/>
          </a:prstGeom>
          <a:noFill/>
          <a:ln/>
        </p:spPr>
        <p:txBody>
          <a:bodyPr wrap="square" lIns="0" tIns="0" rIns="0" bIns="0" rtlCol="0" anchor="t"/>
          <a:lstStyle/>
          <a:p>
            <a:pPr indent="0" marL="0">
              <a:buNone/>
            </a:pPr>
            <a:r>
              <a:rPr lang="en-US" sz="4000" b="1" dirty="0">
                <a:solidFill>
                  <a:srgbClr val="0E2B33"/>
                </a:solidFill>
                <a:latin typeface="Cambria" pitchFamily="34" charset="0"/>
                <a:ea typeface="Cambria" pitchFamily="34" charset="-122"/>
                <a:cs typeface="Cambria" pitchFamily="34" charset="-120"/>
              </a:rPr>
              <a:t>Where it stops working</a:t>
            </a:r>
            <a:endParaRPr lang="en-US" sz="4000" dirty="0"/>
          </a:p>
        </p:txBody>
      </p:sp>
      <p:sp>
        <p:nvSpPr>
          <p:cNvPr id="4" name="Text 2"/>
          <p:cNvSpPr/>
          <p:nvPr/>
        </p:nvSpPr>
        <p:spPr>
          <a:xfrm>
            <a:off x="822960" y="1874520"/>
            <a:ext cx="10241280" cy="914400"/>
          </a:xfrm>
          <a:prstGeom prst="rect">
            <a:avLst/>
          </a:prstGeom>
          <a:noFill/>
          <a:ln/>
        </p:spPr>
        <p:txBody>
          <a:bodyPr wrap="square" lIns="0" tIns="0" rIns="0" bIns="0" rtlCol="0" anchor="ctr"/>
          <a:lstStyle/>
          <a:p>
            <a:pPr indent="0" marL="0">
              <a:lnSpc>
                <a:spcPts val="2700"/>
              </a:lnSpc>
              <a:buNone/>
            </a:pPr>
            <a:r>
              <a:rPr lang="en-US" sz="1900" dirty="0">
                <a:solidFill>
                  <a:srgbClr val="5B7480"/>
                </a:solidFill>
                <a:latin typeface="Calibri" pitchFamily="34" charset="0"/>
                <a:ea typeface="Calibri" pitchFamily="34" charset="-122"/>
                <a:cs typeface="Calibri" pitchFamily="34" charset="-120"/>
              </a:rPr>
              <a:t>A perfect score on an easy test set proves nothing. So I hid the signals across a 23-fold range of strength and scored each band separately. Strength = the share of that drug's reports carrying the planted side effect.</a:t>
            </a:r>
            <a:endParaRPr lang="en-US" sz="1900" dirty="0"/>
          </a:p>
        </p:txBody>
      </p:sp>
      <p:graphicFrame>
        <p:nvGraphicFramePr>
          <p:cNvPr id="5" name="Chart 0" descr=""/>
          <p:cNvGraphicFramePr/>
          <p:nvPr/>
        </p:nvGraphicFramePr>
        <p:xfrm>
          <a:off x="822960" y="2880360"/>
          <a:ext cx="6675120" cy="28346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863840" y="2880360"/>
            <a:ext cx="3474720" cy="2834640"/>
          </a:xfrm>
          <a:prstGeom prst="roundRect">
            <a:avLst>
              <a:gd name="adj" fmla="val 3871"/>
            </a:avLst>
          </a:prstGeom>
          <a:solidFill>
            <a:srgbClr val="F1F5F6"/>
          </a:solidFill>
          <a:ln/>
          <a:effectLst>
            <a:outerShdw sx="100000" sy="100000" kx="0" ky="0" algn="bl" rotWithShape="0" blurRad="127000" dist="635" dir="5400000">
              <a:srgbClr val="9AAEB5">
                <a:alpha val="35000"/>
              </a:srgbClr>
            </a:outerShdw>
          </a:effectLst>
        </p:spPr>
      </p:sp>
      <p:sp>
        <p:nvSpPr>
          <p:cNvPr id="7" name="Text 4"/>
          <p:cNvSpPr/>
          <p:nvPr/>
        </p:nvSpPr>
        <p:spPr>
          <a:xfrm>
            <a:off x="8138160" y="3154680"/>
            <a:ext cx="2926080" cy="365760"/>
          </a:xfrm>
          <a:prstGeom prst="rect">
            <a:avLst/>
          </a:prstGeom>
          <a:noFill/>
          <a:ln/>
        </p:spPr>
        <p:txBody>
          <a:bodyPr wrap="square" lIns="0" tIns="0" rIns="0" bIns="0" rtlCol="0" anchor="ctr"/>
          <a:lstStyle/>
          <a:p>
            <a:pPr indent="0" marL="0">
              <a:buNone/>
            </a:pPr>
            <a:r>
              <a:rPr lang="en-US" sz="1400" b="1" dirty="0">
                <a:solidFill>
                  <a:srgbClr val="058C9B"/>
                </a:solidFill>
                <a:latin typeface="Calibri" pitchFamily="34" charset="0"/>
                <a:ea typeface="Calibri" pitchFamily="34" charset="-122"/>
                <a:cs typeface="Calibri" pitchFamily="34" charset="-120"/>
              </a:rPr>
              <a:t>The number to quote</a:t>
            </a:r>
            <a:endParaRPr lang="en-US" sz="1400" dirty="0"/>
          </a:p>
        </p:txBody>
      </p:sp>
      <p:sp>
        <p:nvSpPr>
          <p:cNvPr id="8" name="Text 5"/>
          <p:cNvSpPr/>
          <p:nvPr/>
        </p:nvSpPr>
        <p:spPr>
          <a:xfrm>
            <a:off x="8138160" y="3547872"/>
            <a:ext cx="2926080" cy="2103120"/>
          </a:xfrm>
          <a:prstGeom prst="rect">
            <a:avLst/>
          </a:prstGeom>
          <a:noFill/>
          <a:ln/>
        </p:spPr>
        <p:txBody>
          <a:bodyPr wrap="square" lIns="0" tIns="0" rIns="0" bIns="0" rtlCol="0" anchor="ctr"/>
          <a:lstStyle/>
          <a:p>
            <a:pPr indent="0" marL="0">
              <a:lnSpc>
                <a:spcPts val="1900"/>
              </a:lnSpc>
              <a:buNone/>
            </a:pPr>
            <a:r>
              <a:rPr lang="en-US" sz="1300" dirty="0">
                <a:solidFill>
                  <a:srgbClr val="0E2B33"/>
                </a:solidFill>
                <a:latin typeface="Calibri" pitchFamily="34" charset="0"/>
                <a:ea typeface="Calibri" pitchFamily="34" charset="-122"/>
                <a:cs typeface="Calibri" pitchFamily="34" charset="-120"/>
              </a:rPr>
              <a:t>Not “100% accurate”.</a:t>
            </a:r>
            <a:endParaRPr lang="en-US" sz="1300" dirty="0"/>
          </a:p>
          <a:p>
            <a:pPr indent="0" marL="0">
              <a:lnSpc>
                <a:spcPts val="1900"/>
              </a:lnSpc>
              <a:buNone/>
            </a:pPr>
            <a:endParaRPr lang="en-US" sz="1300" dirty="0"/>
          </a:p>
          <a:p>
            <a:pPr indent="0" marL="0">
              <a:lnSpc>
                <a:spcPts val="1900"/>
              </a:lnSpc>
              <a:buNone/>
            </a:pPr>
            <a:r>
              <a:rPr lang="en-US" sz="1300" dirty="0">
                <a:solidFill>
                  <a:srgbClr val="0E2B33"/>
                </a:solidFill>
                <a:latin typeface="Calibri" pitchFamily="34" charset="0"/>
                <a:ea typeface="Calibri" pitchFamily="34" charset="-122"/>
                <a:cs typeface="Calibri" pitchFamily="34" charset="-120"/>
              </a:rPr>
              <a:t>“Reliably detects a side effect present in 7.5% or more of a drug’s reports — about a 2x reporting ratio — with no false alarms in 3,160 candidates.”</a:t>
            </a:r>
            <a:endParaRPr lang="en-US" sz="1300" dirty="0"/>
          </a:p>
          <a:p>
            <a:pPr indent="0" marL="0">
              <a:lnSpc>
                <a:spcPts val="1900"/>
              </a:lnSpc>
              <a:buNone/>
            </a:pPr>
            <a:endParaRPr lang="en-US" sz="1300" dirty="0"/>
          </a:p>
          <a:p>
            <a:pPr indent="0" marL="0">
              <a:lnSpc>
                <a:spcPts val="1900"/>
              </a:lnSpc>
              <a:buNone/>
            </a:pPr>
            <a:r>
              <a:rPr lang="en-US" sz="1300" dirty="0">
                <a:solidFill>
                  <a:srgbClr val="0E2B33"/>
                </a:solidFill>
                <a:latin typeface="Calibri" pitchFamily="34" charset="0"/>
                <a:ea typeface="Calibri" pitchFamily="34" charset="-122"/>
                <a:cs typeface="Calibri" pitchFamily="34" charset="-120"/>
              </a:rPr>
              <a:t>A method with no stated limit has not been characterised.</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475488"/>
            <a:ext cx="10515600" cy="292608"/>
          </a:xfrm>
          <a:prstGeom prst="rect">
            <a:avLst/>
          </a:prstGeom>
          <a:noFill/>
          <a:ln/>
        </p:spPr>
        <p:txBody>
          <a:bodyPr wrap="square" lIns="0" tIns="0" rIns="0" bIns="0" rtlCol="0" anchor="ctr"/>
          <a:lstStyle/>
          <a:p>
            <a:pPr indent="0" marL="0">
              <a:buNone/>
            </a:pPr>
            <a:r>
              <a:rPr lang="en-US" sz="1300" b="1" spc="240" kern="0" dirty="0">
                <a:solidFill>
                  <a:srgbClr val="EF6351"/>
                </a:solidFill>
                <a:latin typeface="Calibri" pitchFamily="34" charset="0"/>
                <a:ea typeface="Calibri" pitchFamily="34" charset="-122"/>
                <a:cs typeface="Calibri" pitchFamily="34" charset="-120"/>
              </a:rPr>
              <a:t>WHY IT IS WORTH RUNNING</a:t>
            </a:r>
            <a:endParaRPr lang="en-US" sz="1300" dirty="0"/>
          </a:p>
        </p:txBody>
      </p:sp>
      <p:sp>
        <p:nvSpPr>
          <p:cNvPr id="3" name="Text 1"/>
          <p:cNvSpPr/>
          <p:nvPr/>
        </p:nvSpPr>
        <p:spPr>
          <a:xfrm>
            <a:off x="822960" y="868680"/>
            <a:ext cx="10515600" cy="1051560"/>
          </a:xfrm>
          <a:prstGeom prst="rect">
            <a:avLst/>
          </a:prstGeom>
          <a:noFill/>
          <a:ln/>
        </p:spPr>
        <p:txBody>
          <a:bodyPr wrap="square" lIns="0" tIns="0" rIns="0" bIns="0" rtlCol="0" anchor="t"/>
          <a:lstStyle/>
          <a:p>
            <a:pPr indent="0" marL="0">
              <a:buNone/>
            </a:pPr>
            <a:r>
              <a:rPr lang="en-US" sz="4000" b="1" dirty="0">
                <a:solidFill>
                  <a:srgbClr val="0E2B33"/>
                </a:solidFill>
                <a:latin typeface="Cambria" pitchFamily="34" charset="0"/>
                <a:ea typeface="Cambria" pitchFamily="34" charset="-122"/>
                <a:cs typeface="Cambria" pitchFamily="34" charset="-120"/>
              </a:rPr>
              <a:t>Six from outside its own benchmark</a:t>
            </a:r>
            <a:endParaRPr lang="en-US" sz="4000" dirty="0"/>
          </a:p>
        </p:txBody>
      </p:sp>
      <p:sp>
        <p:nvSpPr>
          <p:cNvPr id="4" name="Text 2"/>
          <p:cNvSpPr/>
          <p:nvPr/>
        </p:nvSpPr>
        <p:spPr>
          <a:xfrm>
            <a:off x="822960" y="1874520"/>
            <a:ext cx="10241280" cy="822960"/>
          </a:xfrm>
          <a:prstGeom prst="rect">
            <a:avLst/>
          </a:prstGeom>
          <a:noFill/>
          <a:ln/>
        </p:spPr>
        <p:txBody>
          <a:bodyPr wrap="square" lIns="0" tIns="0" rIns="0" bIns="0" rtlCol="0" anchor="ctr"/>
          <a:lstStyle/>
          <a:p>
            <a:pPr indent="0" marL="0">
              <a:lnSpc>
                <a:spcPts val="2700"/>
              </a:lnSpc>
              <a:buNone/>
            </a:pPr>
            <a:r>
              <a:rPr lang="en-US" sz="1900" dirty="0">
                <a:solidFill>
                  <a:srgbClr val="5B7480"/>
                </a:solidFill>
                <a:latin typeface="Calibri" pitchFamily="34" charset="0"/>
                <a:ea typeface="Calibri" pitchFamily="34" charset="-122"/>
                <a:cs typeface="Calibri" pitchFamily="34" charset="-120"/>
              </a:rPr>
              <a:t>A detector that only rediscovers its own benchmark has not been shown to generalise. So six pairs were deliberately withheld from the 27-item FDA reference set. All six came back — and all six are FDA-labelled in reality. A capability check, not a discovery.</a:t>
            </a:r>
            <a:endParaRPr lang="en-US" sz="1900" dirty="0"/>
          </a:p>
        </p:txBody>
      </p:sp>
      <p:sp>
        <p:nvSpPr>
          <p:cNvPr id="5" name="Shape 3"/>
          <p:cNvSpPr/>
          <p:nvPr/>
        </p:nvSpPr>
        <p:spPr>
          <a:xfrm>
            <a:off x="822960" y="2880360"/>
            <a:ext cx="5029200" cy="841248"/>
          </a:xfrm>
          <a:prstGeom prst="roundRect">
            <a:avLst>
              <a:gd name="adj" fmla="val 13043"/>
            </a:avLst>
          </a:prstGeom>
          <a:solidFill>
            <a:srgbClr val="F1F5F6"/>
          </a:solidFill>
          <a:ln/>
          <a:effectLst>
            <a:outerShdw sx="100000" sy="100000" kx="0" ky="0" algn="bl" rotWithShape="0" blurRad="127000" dist="635" dir="5400000">
              <a:srgbClr val="9AAEB5">
                <a:alpha val="35000"/>
              </a:srgbClr>
            </a:outerShdw>
          </a:effectLst>
        </p:spPr>
      </p:sp>
      <p:sp>
        <p:nvSpPr>
          <p:cNvPr id="6" name="Text 4"/>
          <p:cNvSpPr/>
          <p:nvPr/>
        </p:nvSpPr>
        <p:spPr>
          <a:xfrm>
            <a:off x="1078992" y="2880360"/>
            <a:ext cx="1828800" cy="841248"/>
          </a:xfrm>
          <a:prstGeom prst="rect">
            <a:avLst/>
          </a:prstGeom>
          <a:noFill/>
          <a:ln/>
        </p:spPr>
        <p:txBody>
          <a:bodyPr wrap="square" lIns="0" tIns="0" rIns="0" bIns="0" rtlCol="0" anchor="ctr"/>
          <a:lstStyle/>
          <a:p>
            <a:pPr indent="0" marL="0">
              <a:buNone/>
            </a:pPr>
            <a:r>
              <a:rPr lang="en-US" sz="1600" b="1" dirty="0">
                <a:solidFill>
                  <a:srgbClr val="0E2B33"/>
                </a:solidFill>
                <a:latin typeface="Calibri" pitchFamily="34" charset="0"/>
                <a:ea typeface="Calibri" pitchFamily="34" charset="-122"/>
                <a:cs typeface="Calibri" pitchFamily="34" charset="-120"/>
              </a:rPr>
              <a:t>Sertraline</a:t>
            </a:r>
            <a:endParaRPr lang="en-US" sz="1600" dirty="0"/>
          </a:p>
        </p:txBody>
      </p:sp>
      <p:sp>
        <p:nvSpPr>
          <p:cNvPr id="7" name="Text 5"/>
          <p:cNvSpPr/>
          <p:nvPr/>
        </p:nvSpPr>
        <p:spPr>
          <a:xfrm>
            <a:off x="2926080" y="2880360"/>
            <a:ext cx="2103120" cy="841248"/>
          </a:xfrm>
          <a:prstGeom prst="rect">
            <a:avLst/>
          </a:prstGeom>
          <a:noFill/>
          <a:ln/>
        </p:spPr>
        <p:txBody>
          <a:bodyPr wrap="square" lIns="0" tIns="0" rIns="0" bIns="0" rtlCol="0" anchor="ctr"/>
          <a:lstStyle/>
          <a:p>
            <a:pPr indent="0" marL="0">
              <a:buNone/>
            </a:pPr>
            <a:r>
              <a:rPr lang="en-US" sz="1400" dirty="0">
                <a:solidFill>
                  <a:srgbClr val="5B7480"/>
                </a:solidFill>
                <a:latin typeface="Calibri" pitchFamily="34" charset="0"/>
                <a:ea typeface="Calibri" pitchFamily="34" charset="-122"/>
                <a:cs typeface="Calibri" pitchFamily="34" charset="-120"/>
              </a:rPr>
              <a:t>Low blood sodium</a:t>
            </a:r>
            <a:endParaRPr lang="en-US" sz="1400" dirty="0"/>
          </a:p>
        </p:txBody>
      </p:sp>
      <p:sp>
        <p:nvSpPr>
          <p:cNvPr id="8" name="Text 6"/>
          <p:cNvSpPr/>
          <p:nvPr/>
        </p:nvSpPr>
        <p:spPr>
          <a:xfrm>
            <a:off x="4983480" y="2880360"/>
            <a:ext cx="685800" cy="841248"/>
          </a:xfrm>
          <a:prstGeom prst="rect">
            <a:avLst/>
          </a:prstGeom>
          <a:noFill/>
          <a:ln/>
        </p:spPr>
        <p:txBody>
          <a:bodyPr wrap="square" lIns="0" tIns="0" rIns="0" bIns="0" rtlCol="0" anchor="ctr"/>
          <a:lstStyle/>
          <a:p>
            <a:pPr algn="r" indent="0" marL="0">
              <a:buNone/>
            </a:pPr>
            <a:r>
              <a:rPr lang="en-US" sz="1900" b="1" dirty="0">
                <a:solidFill>
                  <a:srgbClr val="EF6351"/>
                </a:solidFill>
                <a:latin typeface="Cambria" pitchFamily="34" charset="0"/>
                <a:ea typeface="Cambria" pitchFamily="34" charset="-122"/>
                <a:cs typeface="Cambria" pitchFamily="34" charset="-120"/>
              </a:rPr>
              <a:t>3.0x</a:t>
            </a:r>
            <a:endParaRPr lang="en-US" sz="1900" dirty="0"/>
          </a:p>
        </p:txBody>
      </p:sp>
      <p:sp>
        <p:nvSpPr>
          <p:cNvPr id="9" name="Shape 7"/>
          <p:cNvSpPr/>
          <p:nvPr/>
        </p:nvSpPr>
        <p:spPr>
          <a:xfrm>
            <a:off x="6172200" y="2880360"/>
            <a:ext cx="5029200" cy="841248"/>
          </a:xfrm>
          <a:prstGeom prst="roundRect">
            <a:avLst>
              <a:gd name="adj" fmla="val 13043"/>
            </a:avLst>
          </a:prstGeom>
          <a:solidFill>
            <a:srgbClr val="F1F5F6"/>
          </a:solidFill>
          <a:ln/>
          <a:effectLst>
            <a:outerShdw sx="100000" sy="100000" kx="0" ky="0" algn="bl" rotWithShape="0" blurRad="127000" dist="635" dir="5400000">
              <a:srgbClr val="9AAEB5">
                <a:alpha val="35000"/>
              </a:srgbClr>
            </a:outerShdw>
          </a:effectLst>
        </p:spPr>
      </p:sp>
      <p:sp>
        <p:nvSpPr>
          <p:cNvPr id="10" name="Text 8"/>
          <p:cNvSpPr/>
          <p:nvPr/>
        </p:nvSpPr>
        <p:spPr>
          <a:xfrm>
            <a:off x="6428232" y="2880360"/>
            <a:ext cx="1828800" cy="841248"/>
          </a:xfrm>
          <a:prstGeom prst="rect">
            <a:avLst/>
          </a:prstGeom>
          <a:noFill/>
          <a:ln/>
        </p:spPr>
        <p:txBody>
          <a:bodyPr wrap="square" lIns="0" tIns="0" rIns="0" bIns="0" rtlCol="0" anchor="ctr"/>
          <a:lstStyle/>
          <a:p>
            <a:pPr indent="0" marL="0">
              <a:buNone/>
            </a:pPr>
            <a:r>
              <a:rPr lang="en-US" sz="1600" b="1" dirty="0">
                <a:solidFill>
                  <a:srgbClr val="0E2B33"/>
                </a:solidFill>
                <a:latin typeface="Calibri" pitchFamily="34" charset="0"/>
                <a:ea typeface="Calibri" pitchFamily="34" charset="-122"/>
                <a:cs typeface="Calibri" pitchFamily="34" charset="-120"/>
              </a:rPr>
              <a:t>Levothyroxine</a:t>
            </a:r>
            <a:endParaRPr lang="en-US" sz="1600" dirty="0"/>
          </a:p>
        </p:txBody>
      </p:sp>
      <p:sp>
        <p:nvSpPr>
          <p:cNvPr id="11" name="Text 9"/>
          <p:cNvSpPr/>
          <p:nvPr/>
        </p:nvSpPr>
        <p:spPr>
          <a:xfrm>
            <a:off x="8275320" y="2880360"/>
            <a:ext cx="2103120" cy="841248"/>
          </a:xfrm>
          <a:prstGeom prst="rect">
            <a:avLst/>
          </a:prstGeom>
          <a:noFill/>
          <a:ln/>
        </p:spPr>
        <p:txBody>
          <a:bodyPr wrap="square" lIns="0" tIns="0" rIns="0" bIns="0" rtlCol="0" anchor="ctr"/>
          <a:lstStyle/>
          <a:p>
            <a:pPr indent="0" marL="0">
              <a:buNone/>
            </a:pPr>
            <a:r>
              <a:rPr lang="en-US" sz="1400" dirty="0">
                <a:solidFill>
                  <a:srgbClr val="5B7480"/>
                </a:solidFill>
                <a:latin typeface="Calibri" pitchFamily="34" charset="0"/>
                <a:ea typeface="Calibri" pitchFamily="34" charset="-122"/>
                <a:cs typeface="Calibri" pitchFamily="34" charset="-120"/>
              </a:rPr>
              <a:t>Irregular heartbeat</a:t>
            </a:r>
            <a:endParaRPr lang="en-US" sz="1400" dirty="0"/>
          </a:p>
        </p:txBody>
      </p:sp>
      <p:sp>
        <p:nvSpPr>
          <p:cNvPr id="12" name="Text 10"/>
          <p:cNvSpPr/>
          <p:nvPr/>
        </p:nvSpPr>
        <p:spPr>
          <a:xfrm>
            <a:off x="10332720" y="2880360"/>
            <a:ext cx="685800" cy="841248"/>
          </a:xfrm>
          <a:prstGeom prst="rect">
            <a:avLst/>
          </a:prstGeom>
          <a:noFill/>
          <a:ln/>
        </p:spPr>
        <p:txBody>
          <a:bodyPr wrap="square" lIns="0" tIns="0" rIns="0" bIns="0" rtlCol="0" anchor="ctr"/>
          <a:lstStyle/>
          <a:p>
            <a:pPr algn="r" indent="0" marL="0">
              <a:buNone/>
            </a:pPr>
            <a:r>
              <a:rPr lang="en-US" sz="1900" b="1" dirty="0">
                <a:solidFill>
                  <a:srgbClr val="EF6351"/>
                </a:solidFill>
                <a:latin typeface="Cambria" pitchFamily="34" charset="0"/>
                <a:ea typeface="Cambria" pitchFamily="34" charset="-122"/>
                <a:cs typeface="Cambria" pitchFamily="34" charset="-120"/>
              </a:rPr>
              <a:t>2.7x</a:t>
            </a:r>
            <a:endParaRPr lang="en-US" sz="1900" dirty="0"/>
          </a:p>
        </p:txBody>
      </p:sp>
      <p:sp>
        <p:nvSpPr>
          <p:cNvPr id="13" name="Shape 11"/>
          <p:cNvSpPr/>
          <p:nvPr/>
        </p:nvSpPr>
        <p:spPr>
          <a:xfrm>
            <a:off x="822960" y="3931920"/>
            <a:ext cx="5029200" cy="841248"/>
          </a:xfrm>
          <a:prstGeom prst="roundRect">
            <a:avLst>
              <a:gd name="adj" fmla="val 13043"/>
            </a:avLst>
          </a:prstGeom>
          <a:solidFill>
            <a:srgbClr val="F1F5F6"/>
          </a:solidFill>
          <a:ln/>
          <a:effectLst>
            <a:outerShdw sx="100000" sy="100000" kx="0" ky="0" algn="bl" rotWithShape="0" blurRad="127000" dist="635" dir="5400000">
              <a:srgbClr val="9AAEB5">
                <a:alpha val="35000"/>
              </a:srgbClr>
            </a:outerShdw>
          </a:effectLst>
        </p:spPr>
      </p:sp>
      <p:sp>
        <p:nvSpPr>
          <p:cNvPr id="14" name="Text 12"/>
          <p:cNvSpPr/>
          <p:nvPr/>
        </p:nvSpPr>
        <p:spPr>
          <a:xfrm>
            <a:off x="1078992" y="3931920"/>
            <a:ext cx="1828800" cy="841248"/>
          </a:xfrm>
          <a:prstGeom prst="rect">
            <a:avLst/>
          </a:prstGeom>
          <a:noFill/>
          <a:ln/>
        </p:spPr>
        <p:txBody>
          <a:bodyPr wrap="square" lIns="0" tIns="0" rIns="0" bIns="0" rtlCol="0" anchor="ctr"/>
          <a:lstStyle/>
          <a:p>
            <a:pPr indent="0" marL="0">
              <a:buNone/>
            </a:pPr>
            <a:r>
              <a:rPr lang="en-US" sz="1600" b="1" dirty="0">
                <a:solidFill>
                  <a:srgbClr val="0E2B33"/>
                </a:solidFill>
                <a:latin typeface="Calibri" pitchFamily="34" charset="0"/>
                <a:ea typeface="Calibri" pitchFamily="34" charset="-122"/>
                <a:cs typeface="Calibri" pitchFamily="34" charset="-120"/>
              </a:rPr>
              <a:t>Apixaban</a:t>
            </a:r>
            <a:endParaRPr lang="en-US" sz="1600" dirty="0"/>
          </a:p>
        </p:txBody>
      </p:sp>
      <p:sp>
        <p:nvSpPr>
          <p:cNvPr id="15" name="Text 13"/>
          <p:cNvSpPr/>
          <p:nvPr/>
        </p:nvSpPr>
        <p:spPr>
          <a:xfrm>
            <a:off x="2926080" y="3931920"/>
            <a:ext cx="2103120" cy="841248"/>
          </a:xfrm>
          <a:prstGeom prst="rect">
            <a:avLst/>
          </a:prstGeom>
          <a:noFill/>
          <a:ln/>
        </p:spPr>
        <p:txBody>
          <a:bodyPr wrap="square" lIns="0" tIns="0" rIns="0" bIns="0" rtlCol="0" anchor="ctr"/>
          <a:lstStyle/>
          <a:p>
            <a:pPr indent="0" marL="0">
              <a:buNone/>
            </a:pPr>
            <a:r>
              <a:rPr lang="en-US" sz="1400" dirty="0">
                <a:solidFill>
                  <a:srgbClr val="5B7480"/>
                </a:solidFill>
                <a:latin typeface="Calibri" pitchFamily="34" charset="0"/>
                <a:ea typeface="Calibri" pitchFamily="34" charset="-122"/>
                <a:cs typeface="Calibri" pitchFamily="34" charset="-120"/>
              </a:rPr>
              <a:t>Gastrointestinal bleeding</a:t>
            </a:r>
            <a:endParaRPr lang="en-US" sz="1400" dirty="0"/>
          </a:p>
        </p:txBody>
      </p:sp>
      <p:sp>
        <p:nvSpPr>
          <p:cNvPr id="16" name="Text 14"/>
          <p:cNvSpPr/>
          <p:nvPr/>
        </p:nvSpPr>
        <p:spPr>
          <a:xfrm>
            <a:off x="4983480" y="3931920"/>
            <a:ext cx="685800" cy="841248"/>
          </a:xfrm>
          <a:prstGeom prst="rect">
            <a:avLst/>
          </a:prstGeom>
          <a:noFill/>
          <a:ln/>
        </p:spPr>
        <p:txBody>
          <a:bodyPr wrap="square" lIns="0" tIns="0" rIns="0" bIns="0" rtlCol="0" anchor="ctr"/>
          <a:lstStyle/>
          <a:p>
            <a:pPr algn="r" indent="0" marL="0">
              <a:buNone/>
            </a:pPr>
            <a:r>
              <a:rPr lang="en-US" sz="1900" b="1" dirty="0">
                <a:solidFill>
                  <a:srgbClr val="EF6351"/>
                </a:solidFill>
                <a:latin typeface="Cambria" pitchFamily="34" charset="0"/>
                <a:ea typeface="Cambria" pitchFamily="34" charset="-122"/>
                <a:cs typeface="Cambria" pitchFamily="34" charset="-120"/>
              </a:rPr>
              <a:t>2.6x</a:t>
            </a:r>
            <a:endParaRPr lang="en-US" sz="1900" dirty="0"/>
          </a:p>
        </p:txBody>
      </p:sp>
      <p:sp>
        <p:nvSpPr>
          <p:cNvPr id="17" name="Shape 15"/>
          <p:cNvSpPr/>
          <p:nvPr/>
        </p:nvSpPr>
        <p:spPr>
          <a:xfrm>
            <a:off x="6172200" y="3931920"/>
            <a:ext cx="5029200" cy="841248"/>
          </a:xfrm>
          <a:prstGeom prst="roundRect">
            <a:avLst>
              <a:gd name="adj" fmla="val 13043"/>
            </a:avLst>
          </a:prstGeom>
          <a:solidFill>
            <a:srgbClr val="F1F5F6"/>
          </a:solidFill>
          <a:ln/>
          <a:effectLst>
            <a:outerShdw sx="100000" sy="100000" kx="0" ky="0" algn="bl" rotWithShape="0" blurRad="127000" dist="635" dir="5400000">
              <a:srgbClr val="9AAEB5">
                <a:alpha val="35000"/>
              </a:srgbClr>
            </a:outerShdw>
          </a:effectLst>
        </p:spPr>
      </p:sp>
      <p:sp>
        <p:nvSpPr>
          <p:cNvPr id="18" name="Text 16"/>
          <p:cNvSpPr/>
          <p:nvPr/>
        </p:nvSpPr>
        <p:spPr>
          <a:xfrm>
            <a:off x="6428232" y="3931920"/>
            <a:ext cx="1828800" cy="841248"/>
          </a:xfrm>
          <a:prstGeom prst="rect">
            <a:avLst/>
          </a:prstGeom>
          <a:noFill/>
          <a:ln/>
        </p:spPr>
        <p:txBody>
          <a:bodyPr wrap="square" lIns="0" tIns="0" rIns="0" bIns="0" rtlCol="0" anchor="ctr"/>
          <a:lstStyle/>
          <a:p>
            <a:pPr indent="0" marL="0">
              <a:buNone/>
            </a:pPr>
            <a:r>
              <a:rPr lang="en-US" sz="1600" b="1" dirty="0">
                <a:solidFill>
                  <a:srgbClr val="0E2B33"/>
                </a:solidFill>
                <a:latin typeface="Calibri" pitchFamily="34" charset="0"/>
                <a:ea typeface="Calibri" pitchFamily="34" charset="-122"/>
                <a:cs typeface="Calibri" pitchFamily="34" charset="-120"/>
              </a:rPr>
              <a:t>Duloxetine</a:t>
            </a:r>
            <a:endParaRPr lang="en-US" sz="1600" dirty="0"/>
          </a:p>
        </p:txBody>
      </p:sp>
      <p:sp>
        <p:nvSpPr>
          <p:cNvPr id="19" name="Text 17"/>
          <p:cNvSpPr/>
          <p:nvPr/>
        </p:nvSpPr>
        <p:spPr>
          <a:xfrm>
            <a:off x="8275320" y="3931920"/>
            <a:ext cx="2103120" cy="841248"/>
          </a:xfrm>
          <a:prstGeom prst="rect">
            <a:avLst/>
          </a:prstGeom>
          <a:noFill/>
          <a:ln/>
        </p:spPr>
        <p:txBody>
          <a:bodyPr wrap="square" lIns="0" tIns="0" rIns="0" bIns="0" rtlCol="0" anchor="ctr"/>
          <a:lstStyle/>
          <a:p>
            <a:pPr indent="0" marL="0">
              <a:buNone/>
            </a:pPr>
            <a:r>
              <a:rPr lang="en-US" sz="1400" dirty="0">
                <a:solidFill>
                  <a:srgbClr val="5B7480"/>
                </a:solidFill>
                <a:latin typeface="Calibri" pitchFamily="34" charset="0"/>
                <a:ea typeface="Calibri" pitchFamily="34" charset="-122"/>
                <a:cs typeface="Calibri" pitchFamily="34" charset="-120"/>
              </a:rPr>
              <a:t>Liver inflammation</a:t>
            </a:r>
            <a:endParaRPr lang="en-US" sz="1400" dirty="0"/>
          </a:p>
        </p:txBody>
      </p:sp>
      <p:sp>
        <p:nvSpPr>
          <p:cNvPr id="20" name="Text 18"/>
          <p:cNvSpPr/>
          <p:nvPr/>
        </p:nvSpPr>
        <p:spPr>
          <a:xfrm>
            <a:off x="10332720" y="3931920"/>
            <a:ext cx="685800" cy="841248"/>
          </a:xfrm>
          <a:prstGeom prst="rect">
            <a:avLst/>
          </a:prstGeom>
          <a:noFill/>
          <a:ln/>
        </p:spPr>
        <p:txBody>
          <a:bodyPr wrap="square" lIns="0" tIns="0" rIns="0" bIns="0" rtlCol="0" anchor="ctr"/>
          <a:lstStyle/>
          <a:p>
            <a:pPr algn="r" indent="0" marL="0">
              <a:buNone/>
            </a:pPr>
            <a:r>
              <a:rPr lang="en-US" sz="1900" b="1" dirty="0">
                <a:solidFill>
                  <a:srgbClr val="EF6351"/>
                </a:solidFill>
                <a:latin typeface="Cambria" pitchFamily="34" charset="0"/>
                <a:ea typeface="Cambria" pitchFamily="34" charset="-122"/>
                <a:cs typeface="Cambria" pitchFamily="34" charset="-120"/>
              </a:rPr>
              <a:t>2.3x</a:t>
            </a:r>
            <a:endParaRPr lang="en-US" sz="1900" dirty="0"/>
          </a:p>
        </p:txBody>
      </p:sp>
      <p:sp>
        <p:nvSpPr>
          <p:cNvPr id="21" name="Shape 19"/>
          <p:cNvSpPr/>
          <p:nvPr/>
        </p:nvSpPr>
        <p:spPr>
          <a:xfrm>
            <a:off x="822960" y="4983480"/>
            <a:ext cx="5029200" cy="841248"/>
          </a:xfrm>
          <a:prstGeom prst="roundRect">
            <a:avLst>
              <a:gd name="adj" fmla="val 13043"/>
            </a:avLst>
          </a:prstGeom>
          <a:solidFill>
            <a:srgbClr val="F1F5F6"/>
          </a:solidFill>
          <a:ln/>
          <a:effectLst>
            <a:outerShdw sx="100000" sy="100000" kx="0" ky="0" algn="bl" rotWithShape="0" blurRad="127000" dist="635" dir="5400000">
              <a:srgbClr val="9AAEB5">
                <a:alpha val="35000"/>
              </a:srgbClr>
            </a:outerShdw>
          </a:effectLst>
        </p:spPr>
      </p:sp>
      <p:sp>
        <p:nvSpPr>
          <p:cNvPr id="22" name="Text 20"/>
          <p:cNvSpPr/>
          <p:nvPr/>
        </p:nvSpPr>
        <p:spPr>
          <a:xfrm>
            <a:off x="1078992" y="4983480"/>
            <a:ext cx="1828800" cy="841248"/>
          </a:xfrm>
          <a:prstGeom prst="rect">
            <a:avLst/>
          </a:prstGeom>
          <a:noFill/>
          <a:ln/>
        </p:spPr>
        <p:txBody>
          <a:bodyPr wrap="square" lIns="0" tIns="0" rIns="0" bIns="0" rtlCol="0" anchor="ctr"/>
          <a:lstStyle/>
          <a:p>
            <a:pPr indent="0" marL="0">
              <a:buNone/>
            </a:pPr>
            <a:r>
              <a:rPr lang="en-US" sz="1600" b="1" dirty="0">
                <a:solidFill>
                  <a:srgbClr val="0E2B33"/>
                </a:solidFill>
                <a:latin typeface="Calibri" pitchFamily="34" charset="0"/>
                <a:ea typeface="Calibri" pitchFamily="34" charset="-122"/>
                <a:cs typeface="Calibri" pitchFamily="34" charset="-120"/>
              </a:rPr>
              <a:t>Prednisone</a:t>
            </a:r>
            <a:endParaRPr lang="en-US" sz="1600" dirty="0"/>
          </a:p>
        </p:txBody>
      </p:sp>
      <p:sp>
        <p:nvSpPr>
          <p:cNvPr id="23" name="Text 21"/>
          <p:cNvSpPr/>
          <p:nvPr/>
        </p:nvSpPr>
        <p:spPr>
          <a:xfrm>
            <a:off x="2926080" y="4983480"/>
            <a:ext cx="2103120" cy="841248"/>
          </a:xfrm>
          <a:prstGeom prst="rect">
            <a:avLst/>
          </a:prstGeom>
          <a:noFill/>
          <a:ln/>
        </p:spPr>
        <p:txBody>
          <a:bodyPr wrap="square" lIns="0" tIns="0" rIns="0" bIns="0" rtlCol="0" anchor="ctr"/>
          <a:lstStyle/>
          <a:p>
            <a:pPr indent="0" marL="0">
              <a:buNone/>
            </a:pPr>
            <a:r>
              <a:rPr lang="en-US" sz="1400" dirty="0">
                <a:solidFill>
                  <a:srgbClr val="5B7480"/>
                </a:solidFill>
                <a:latin typeface="Calibri" pitchFamily="34" charset="0"/>
                <a:ea typeface="Calibri" pitchFamily="34" charset="-122"/>
                <a:cs typeface="Calibri" pitchFamily="34" charset="-120"/>
              </a:rPr>
              <a:t>Pneumonia</a:t>
            </a:r>
            <a:endParaRPr lang="en-US" sz="1400" dirty="0"/>
          </a:p>
        </p:txBody>
      </p:sp>
      <p:sp>
        <p:nvSpPr>
          <p:cNvPr id="24" name="Text 22"/>
          <p:cNvSpPr/>
          <p:nvPr/>
        </p:nvSpPr>
        <p:spPr>
          <a:xfrm>
            <a:off x="4983480" y="4983480"/>
            <a:ext cx="685800" cy="841248"/>
          </a:xfrm>
          <a:prstGeom prst="rect">
            <a:avLst/>
          </a:prstGeom>
          <a:noFill/>
          <a:ln/>
        </p:spPr>
        <p:txBody>
          <a:bodyPr wrap="square" lIns="0" tIns="0" rIns="0" bIns="0" rtlCol="0" anchor="ctr"/>
          <a:lstStyle/>
          <a:p>
            <a:pPr algn="r" indent="0" marL="0">
              <a:buNone/>
            </a:pPr>
            <a:r>
              <a:rPr lang="en-US" sz="1900" b="1" dirty="0">
                <a:solidFill>
                  <a:srgbClr val="EF6351"/>
                </a:solidFill>
                <a:latin typeface="Cambria" pitchFamily="34" charset="0"/>
                <a:ea typeface="Cambria" pitchFamily="34" charset="-122"/>
                <a:cs typeface="Cambria" pitchFamily="34" charset="-120"/>
              </a:rPr>
              <a:t>2.2x</a:t>
            </a:r>
            <a:endParaRPr lang="en-US" sz="1900" dirty="0"/>
          </a:p>
        </p:txBody>
      </p:sp>
      <p:sp>
        <p:nvSpPr>
          <p:cNvPr id="25" name="Shape 23"/>
          <p:cNvSpPr/>
          <p:nvPr/>
        </p:nvSpPr>
        <p:spPr>
          <a:xfrm>
            <a:off x="6172200" y="4983480"/>
            <a:ext cx="5029200" cy="841248"/>
          </a:xfrm>
          <a:prstGeom prst="roundRect">
            <a:avLst>
              <a:gd name="adj" fmla="val 13043"/>
            </a:avLst>
          </a:prstGeom>
          <a:solidFill>
            <a:srgbClr val="F1F5F6"/>
          </a:solidFill>
          <a:ln/>
          <a:effectLst>
            <a:outerShdw sx="100000" sy="100000" kx="0" ky="0" algn="bl" rotWithShape="0" blurRad="127000" dist="635" dir="5400000">
              <a:srgbClr val="9AAEB5">
                <a:alpha val="35000"/>
              </a:srgbClr>
            </a:outerShdw>
          </a:effectLst>
        </p:spPr>
      </p:sp>
      <p:sp>
        <p:nvSpPr>
          <p:cNvPr id="26" name="Text 24"/>
          <p:cNvSpPr/>
          <p:nvPr/>
        </p:nvSpPr>
        <p:spPr>
          <a:xfrm>
            <a:off x="6428232" y="4983480"/>
            <a:ext cx="1828800" cy="841248"/>
          </a:xfrm>
          <a:prstGeom prst="rect">
            <a:avLst/>
          </a:prstGeom>
          <a:noFill/>
          <a:ln/>
        </p:spPr>
        <p:txBody>
          <a:bodyPr wrap="square" lIns="0" tIns="0" rIns="0" bIns="0" rtlCol="0" anchor="ctr"/>
          <a:lstStyle/>
          <a:p>
            <a:pPr indent="0" marL="0">
              <a:buNone/>
            </a:pPr>
            <a:r>
              <a:rPr lang="en-US" sz="1600" b="1" dirty="0">
                <a:solidFill>
                  <a:srgbClr val="0E2B33"/>
                </a:solidFill>
                <a:latin typeface="Calibri" pitchFamily="34" charset="0"/>
                <a:ea typeface="Calibri" pitchFamily="34" charset="-122"/>
                <a:cs typeface="Calibri" pitchFamily="34" charset="-120"/>
              </a:rPr>
              <a:t>Adalimumab</a:t>
            </a:r>
            <a:endParaRPr lang="en-US" sz="1600" dirty="0"/>
          </a:p>
        </p:txBody>
      </p:sp>
      <p:sp>
        <p:nvSpPr>
          <p:cNvPr id="27" name="Text 25"/>
          <p:cNvSpPr/>
          <p:nvPr/>
        </p:nvSpPr>
        <p:spPr>
          <a:xfrm>
            <a:off x="8275320" y="4983480"/>
            <a:ext cx="2103120" cy="841248"/>
          </a:xfrm>
          <a:prstGeom prst="rect">
            <a:avLst/>
          </a:prstGeom>
          <a:noFill/>
          <a:ln/>
        </p:spPr>
        <p:txBody>
          <a:bodyPr wrap="square" lIns="0" tIns="0" rIns="0" bIns="0" rtlCol="0" anchor="ctr"/>
          <a:lstStyle/>
          <a:p>
            <a:pPr indent="0" marL="0">
              <a:buNone/>
            </a:pPr>
            <a:r>
              <a:rPr lang="en-US" sz="1400" dirty="0">
                <a:solidFill>
                  <a:srgbClr val="5B7480"/>
                </a:solidFill>
                <a:latin typeface="Calibri" pitchFamily="34" charset="0"/>
                <a:ea typeface="Calibri" pitchFamily="34" charset="-122"/>
                <a:cs typeface="Calibri" pitchFamily="34" charset="-120"/>
              </a:rPr>
              <a:t>Pneumonia</a:t>
            </a:r>
            <a:endParaRPr lang="en-US" sz="1400" dirty="0"/>
          </a:p>
        </p:txBody>
      </p:sp>
      <p:sp>
        <p:nvSpPr>
          <p:cNvPr id="28" name="Text 26"/>
          <p:cNvSpPr/>
          <p:nvPr/>
        </p:nvSpPr>
        <p:spPr>
          <a:xfrm>
            <a:off x="10332720" y="4983480"/>
            <a:ext cx="685800" cy="841248"/>
          </a:xfrm>
          <a:prstGeom prst="rect">
            <a:avLst/>
          </a:prstGeom>
          <a:noFill/>
          <a:ln/>
        </p:spPr>
        <p:txBody>
          <a:bodyPr wrap="square" lIns="0" tIns="0" rIns="0" bIns="0" rtlCol="0" anchor="ctr"/>
          <a:lstStyle/>
          <a:p>
            <a:pPr algn="r" indent="0" marL="0">
              <a:buNone/>
            </a:pPr>
            <a:r>
              <a:rPr lang="en-US" sz="1900" b="1" dirty="0">
                <a:solidFill>
                  <a:srgbClr val="EF6351"/>
                </a:solidFill>
                <a:latin typeface="Cambria" pitchFamily="34" charset="0"/>
                <a:ea typeface="Cambria" pitchFamily="34" charset="-122"/>
                <a:cs typeface="Cambria" pitchFamily="34" charset="-120"/>
              </a:rPr>
              <a:t>2.2x</a:t>
            </a:r>
            <a:endParaRPr lang="en-US" sz="1900" dirty="0"/>
          </a:p>
        </p:txBody>
      </p:sp>
      <p:sp>
        <p:nvSpPr>
          <p:cNvPr id="29" name="Text 27"/>
          <p:cNvSpPr/>
          <p:nvPr/>
        </p:nvSpPr>
        <p:spPr>
          <a:xfrm>
            <a:off x="822960" y="5897880"/>
            <a:ext cx="10515600" cy="822960"/>
          </a:xfrm>
          <a:prstGeom prst="rect">
            <a:avLst/>
          </a:prstGeom>
          <a:noFill/>
          <a:ln/>
        </p:spPr>
        <p:txBody>
          <a:bodyPr wrap="square" lIns="0" tIns="0" rIns="0" bIns="0" rtlCol="0" anchor="ctr"/>
          <a:lstStyle/>
          <a:p>
            <a:pPr indent="0" marL="0">
              <a:lnSpc>
                <a:spcPts val="1900"/>
              </a:lnSpc>
              <a:buNone/>
            </a:pPr>
            <a:r>
              <a:rPr lang="en-US" sz="1400" i="1" dirty="0">
                <a:solidFill>
                  <a:srgbClr val="EF6351"/>
                </a:solidFill>
                <a:latin typeface="Calibri" pitchFamily="34" charset="0"/>
                <a:ea typeface="Calibri" pitchFamily="34" charset="-122"/>
                <a:cs typeface="Calibri" pitchFamily="34" charset="-120"/>
              </a:rPr>
              <a:t>All six are labelled in the real world — adalimumab carries a boxed warning for serious infections. They were withheld from the reference set on purpose, so the pipeline had something outside its own benchmark to return. It proves the capability, not a discovery.</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475488"/>
            <a:ext cx="10515600" cy="292608"/>
          </a:xfrm>
          <a:prstGeom prst="rect">
            <a:avLst/>
          </a:prstGeom>
          <a:noFill/>
          <a:ln/>
        </p:spPr>
        <p:txBody>
          <a:bodyPr wrap="square" lIns="0" tIns="0" rIns="0" bIns="0" rtlCol="0" anchor="ctr"/>
          <a:lstStyle/>
          <a:p>
            <a:pPr indent="0" marL="0">
              <a:buNone/>
            </a:pPr>
            <a:r>
              <a:rPr lang="en-US" sz="1300" b="1" spc="240" kern="0" dirty="0">
                <a:solidFill>
                  <a:srgbClr val="058C9B"/>
                </a:solidFill>
                <a:latin typeface="Calibri" pitchFamily="34" charset="0"/>
                <a:ea typeface="Calibri" pitchFamily="34" charset="-122"/>
                <a:cs typeface="Calibri" pitchFamily="34" charset="-120"/>
              </a:rPr>
              <a:t>THE MOST INTERESTING THING I GOT WRONG</a:t>
            </a:r>
            <a:endParaRPr lang="en-US" sz="1300" dirty="0"/>
          </a:p>
        </p:txBody>
      </p:sp>
      <p:sp>
        <p:nvSpPr>
          <p:cNvPr id="3" name="Text 1"/>
          <p:cNvSpPr/>
          <p:nvPr/>
        </p:nvSpPr>
        <p:spPr>
          <a:xfrm>
            <a:off x="822960" y="868680"/>
            <a:ext cx="10515600" cy="1051560"/>
          </a:xfrm>
          <a:prstGeom prst="rect">
            <a:avLst/>
          </a:prstGeom>
          <a:noFill/>
          <a:ln/>
        </p:spPr>
        <p:txBody>
          <a:bodyPr wrap="square" lIns="0" tIns="0" rIns="0" bIns="0" rtlCol="0" anchor="t"/>
          <a:lstStyle/>
          <a:p>
            <a:pPr indent="0" marL="0">
              <a:buNone/>
            </a:pPr>
            <a:r>
              <a:rPr lang="en-US" sz="3800" b="1" dirty="0">
                <a:solidFill>
                  <a:srgbClr val="0E2B33"/>
                </a:solidFill>
                <a:latin typeface="Cambria" pitchFamily="34" charset="0"/>
                <a:ea typeface="Cambria" pitchFamily="34" charset="-122"/>
                <a:cs typeface="Cambria" pitchFamily="34" charset="-120"/>
              </a:rPr>
              <a:t>Significant ≠ important</a:t>
            </a:r>
            <a:endParaRPr lang="en-US" sz="3800" dirty="0"/>
          </a:p>
        </p:txBody>
      </p:sp>
      <p:sp>
        <p:nvSpPr>
          <p:cNvPr id="4" name="Text 2"/>
          <p:cNvSpPr/>
          <p:nvPr/>
        </p:nvSpPr>
        <p:spPr>
          <a:xfrm>
            <a:off x="822960" y="1874520"/>
            <a:ext cx="10241280" cy="457200"/>
          </a:xfrm>
          <a:prstGeom prst="rect">
            <a:avLst/>
          </a:prstGeom>
          <a:noFill/>
          <a:ln/>
        </p:spPr>
        <p:txBody>
          <a:bodyPr wrap="square" lIns="0" tIns="0" rIns="0" bIns="0" rtlCol="0" anchor="ctr"/>
          <a:lstStyle/>
          <a:p>
            <a:pPr indent="0" marL="0">
              <a:buNone/>
            </a:pPr>
            <a:r>
              <a:rPr lang="en-US" sz="2000" dirty="0">
                <a:solidFill>
                  <a:srgbClr val="5B7480"/>
                </a:solidFill>
                <a:latin typeface="Calibri" pitchFamily="34" charset="0"/>
                <a:ea typeface="Calibri" pitchFamily="34" charset="-122"/>
                <a:cs typeface="Calibri" pitchFamily="34" charset="-120"/>
              </a:rPr>
              <a:t>Requiring only 2 of the 3 tests flags 61 pairs. Just 43 are real.</a:t>
            </a:r>
            <a:endParaRPr lang="en-US" sz="2000" dirty="0"/>
          </a:p>
        </p:txBody>
      </p:sp>
      <p:sp>
        <p:nvSpPr>
          <p:cNvPr id="5" name="Shape 3"/>
          <p:cNvSpPr/>
          <p:nvPr/>
        </p:nvSpPr>
        <p:spPr>
          <a:xfrm>
            <a:off x="822960" y="2606040"/>
            <a:ext cx="5029200" cy="2377440"/>
          </a:xfrm>
          <a:prstGeom prst="roundRect">
            <a:avLst>
              <a:gd name="adj" fmla="val 4615"/>
            </a:avLst>
          </a:prstGeom>
          <a:solidFill>
            <a:srgbClr val="F1F5F6"/>
          </a:solidFill>
          <a:ln/>
          <a:effectLst>
            <a:outerShdw sx="100000" sy="100000" kx="0" ky="0" algn="bl" rotWithShape="0" blurRad="127000" dist="635" dir="5400000">
              <a:srgbClr val="9AAEB5">
                <a:alpha val="35000"/>
              </a:srgbClr>
            </a:outerShdw>
          </a:effectLst>
        </p:spPr>
      </p:sp>
      <p:sp>
        <p:nvSpPr>
          <p:cNvPr id="6" name="Text 4"/>
          <p:cNvSpPr/>
          <p:nvPr/>
        </p:nvSpPr>
        <p:spPr>
          <a:xfrm>
            <a:off x="1143000" y="2834640"/>
            <a:ext cx="4389120" cy="365760"/>
          </a:xfrm>
          <a:prstGeom prst="rect">
            <a:avLst/>
          </a:prstGeom>
          <a:noFill/>
          <a:ln/>
        </p:spPr>
        <p:txBody>
          <a:bodyPr wrap="square" lIns="0" tIns="0" rIns="0" bIns="0" rtlCol="0" anchor="ctr"/>
          <a:lstStyle/>
          <a:p>
            <a:pPr indent="0" marL="0">
              <a:buNone/>
            </a:pPr>
            <a:r>
              <a:rPr lang="en-US" sz="1500" b="1" dirty="0">
                <a:solidFill>
                  <a:srgbClr val="EF6351"/>
                </a:solidFill>
                <a:latin typeface="Calibri" pitchFamily="34" charset="0"/>
                <a:ea typeface="Calibri" pitchFamily="34" charset="-122"/>
                <a:cs typeface="Calibri" pitchFamily="34" charset="-120"/>
              </a:rPr>
              <a:t>What went wrong</a:t>
            </a:r>
            <a:endParaRPr lang="en-US" sz="1500" dirty="0"/>
          </a:p>
        </p:txBody>
      </p:sp>
      <p:sp>
        <p:nvSpPr>
          <p:cNvPr id="7" name="Text 5"/>
          <p:cNvSpPr/>
          <p:nvPr/>
        </p:nvSpPr>
        <p:spPr>
          <a:xfrm>
            <a:off x="1143000" y="3291840"/>
            <a:ext cx="4389120" cy="1463040"/>
          </a:xfrm>
          <a:prstGeom prst="rect">
            <a:avLst/>
          </a:prstGeom>
          <a:noFill/>
          <a:ln/>
        </p:spPr>
        <p:txBody>
          <a:bodyPr wrap="square" lIns="0" tIns="0" rIns="0" bIns="0" rtlCol="0" anchor="ctr"/>
          <a:lstStyle/>
          <a:p>
            <a:pPr indent="0" marL="0">
              <a:lnSpc>
                <a:spcPts val="2400"/>
              </a:lnSpc>
              <a:buNone/>
            </a:pPr>
            <a:r>
              <a:rPr lang="en-US" sz="1600" dirty="0">
                <a:solidFill>
                  <a:srgbClr val="0E2B33"/>
                </a:solidFill>
                <a:latin typeface="Calibri" pitchFamily="34" charset="0"/>
                <a:ea typeface="Calibri" pitchFamily="34" charset="-122"/>
                <a:cs typeface="Calibri" pitchFamily="34" charset="-120"/>
              </a:rPr>
              <a:t>Two of the three tests only ask “is this effect real?” — not “is it big?” With 373,000 cases even an 8% bump passes as real, so trivial effects got flagged. 24 false alarms.</a:t>
            </a:r>
            <a:endParaRPr lang="en-US" sz="1600" dirty="0"/>
          </a:p>
        </p:txBody>
      </p:sp>
      <p:sp>
        <p:nvSpPr>
          <p:cNvPr id="8" name="Shape 6"/>
          <p:cNvSpPr/>
          <p:nvPr/>
        </p:nvSpPr>
        <p:spPr>
          <a:xfrm>
            <a:off x="6309360" y="2606040"/>
            <a:ext cx="5029200" cy="2377440"/>
          </a:xfrm>
          <a:prstGeom prst="roundRect">
            <a:avLst>
              <a:gd name="adj" fmla="val 4615"/>
            </a:avLst>
          </a:prstGeom>
          <a:solidFill>
            <a:srgbClr val="F1F5F6"/>
          </a:solidFill>
          <a:ln/>
          <a:effectLst>
            <a:outerShdw sx="100000" sy="100000" kx="0" ky="0" algn="bl" rotWithShape="0" blurRad="127000" dist="635" dir="5400000">
              <a:srgbClr val="9AAEB5">
                <a:alpha val="35000"/>
              </a:srgbClr>
            </a:outerShdw>
          </a:effectLst>
        </p:spPr>
      </p:sp>
      <p:sp>
        <p:nvSpPr>
          <p:cNvPr id="9" name="Text 7"/>
          <p:cNvSpPr/>
          <p:nvPr/>
        </p:nvSpPr>
        <p:spPr>
          <a:xfrm>
            <a:off x="6629400" y="2834640"/>
            <a:ext cx="4389120" cy="365760"/>
          </a:xfrm>
          <a:prstGeom prst="rect">
            <a:avLst/>
          </a:prstGeom>
          <a:noFill/>
          <a:ln/>
        </p:spPr>
        <p:txBody>
          <a:bodyPr wrap="square" lIns="0" tIns="0" rIns="0" bIns="0" rtlCol="0" anchor="ctr"/>
          <a:lstStyle/>
          <a:p>
            <a:pPr indent="0" marL="0">
              <a:buNone/>
            </a:pPr>
            <a:r>
              <a:rPr lang="en-US" sz="1500" b="1" dirty="0">
                <a:solidFill>
                  <a:srgbClr val="058C9B"/>
                </a:solidFill>
                <a:latin typeface="Calibri" pitchFamily="34" charset="0"/>
                <a:ea typeface="Calibri" pitchFamily="34" charset="-122"/>
                <a:cs typeface="Calibri" pitchFamily="34" charset="-120"/>
              </a:rPr>
              <a:t>The fix</a:t>
            </a:r>
            <a:endParaRPr lang="en-US" sz="1500" dirty="0"/>
          </a:p>
        </p:txBody>
      </p:sp>
      <p:sp>
        <p:nvSpPr>
          <p:cNvPr id="10" name="Text 8"/>
          <p:cNvSpPr/>
          <p:nvPr/>
        </p:nvSpPr>
        <p:spPr>
          <a:xfrm>
            <a:off x="6629400" y="3291840"/>
            <a:ext cx="4389120" cy="1463040"/>
          </a:xfrm>
          <a:prstGeom prst="rect">
            <a:avLst/>
          </a:prstGeom>
          <a:noFill/>
          <a:ln/>
        </p:spPr>
        <p:txBody>
          <a:bodyPr wrap="square" lIns="0" tIns="0" rIns="0" bIns="0" rtlCol="0" anchor="ctr"/>
          <a:lstStyle/>
          <a:p>
            <a:pPr indent="0" marL="0">
              <a:lnSpc>
                <a:spcPts val="2400"/>
              </a:lnSpc>
              <a:buNone/>
            </a:pPr>
            <a:r>
              <a:rPr lang="en-US" sz="1600" dirty="0">
                <a:solidFill>
                  <a:srgbClr val="0E2B33"/>
                </a:solidFill>
                <a:latin typeface="Calibri" pitchFamily="34" charset="0"/>
                <a:ea typeface="Calibri" pitchFamily="34" charset="-122"/>
                <a:cs typeface="Calibri" pitchFamily="34" charset="-120"/>
              </a:rPr>
              <a:t>Require all three to agree. Only one demands a LARGE effect, so making it mandatory sets a floor on size, not just certainty.</a:t>
            </a:r>
            <a:endParaRPr lang="en-US" sz="1600" dirty="0"/>
          </a:p>
        </p:txBody>
      </p:sp>
      <p:sp>
        <p:nvSpPr>
          <p:cNvPr id="11" name="Text 9"/>
          <p:cNvSpPr/>
          <p:nvPr/>
        </p:nvSpPr>
        <p:spPr>
          <a:xfrm>
            <a:off x="822960" y="5257800"/>
            <a:ext cx="10515600" cy="548640"/>
          </a:xfrm>
          <a:prstGeom prst="rect">
            <a:avLst/>
          </a:prstGeom>
          <a:noFill/>
          <a:ln/>
        </p:spPr>
        <p:txBody>
          <a:bodyPr wrap="square" lIns="0" tIns="0" rIns="0" bIns="0" rtlCol="0" anchor="ctr"/>
          <a:lstStyle/>
          <a:p>
            <a:pPr indent="0" marL="0">
              <a:buNone/>
            </a:pPr>
            <a:r>
              <a:rPr lang="en-US" sz="2500" b="1" dirty="0">
                <a:solidFill>
                  <a:srgbClr val="073B4C"/>
                </a:solidFill>
                <a:latin typeface="Cambria" pitchFamily="34" charset="0"/>
                <a:ea typeface="Cambria" pitchFamily="34" charset="-122"/>
                <a:cs typeface="Cambria" pitchFamily="34" charset="-120"/>
              </a:rPr>
              <a:t>False alarms 18 → 0.  Real pairs found 43 → 33.</a:t>
            </a:r>
            <a:endParaRPr lang="en-US" sz="2500" dirty="0"/>
          </a:p>
        </p:txBody>
      </p:sp>
      <p:sp>
        <p:nvSpPr>
          <p:cNvPr id="12" name="Text 10"/>
          <p:cNvSpPr/>
          <p:nvPr/>
        </p:nvSpPr>
        <p:spPr>
          <a:xfrm>
            <a:off x="822960" y="5897880"/>
            <a:ext cx="10515600" cy="548640"/>
          </a:xfrm>
          <a:prstGeom prst="rect">
            <a:avLst/>
          </a:prstGeom>
          <a:noFill/>
          <a:ln/>
        </p:spPr>
        <p:txBody>
          <a:bodyPr wrap="square" lIns="0" tIns="0" rIns="0" bIns="0" rtlCol="0" anchor="ctr"/>
          <a:lstStyle/>
          <a:p>
            <a:pPr indent="0" marL="0">
              <a:buNone/>
            </a:pPr>
            <a:r>
              <a:rPr lang="en-US" sz="1600" i="1" dirty="0">
                <a:solidFill>
                  <a:srgbClr val="5B7480"/>
                </a:solidFill>
                <a:latin typeface="Calibri" pitchFamily="34" charset="0"/>
                <a:ea typeface="Calibri" pitchFamily="34" charset="-122"/>
                <a:cs typeface="Calibri" pitchFamily="34" charset="-120"/>
              </a:rPr>
              <a:t>A real trade, not a free lunch — the 10 lost are 4 weak-tier and 6 very weak. As data grows, “statistically significant” stops meaning “worth caring about.”</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475488"/>
            <a:ext cx="10515600" cy="292608"/>
          </a:xfrm>
          <a:prstGeom prst="rect">
            <a:avLst/>
          </a:prstGeom>
          <a:noFill/>
          <a:ln/>
        </p:spPr>
        <p:txBody>
          <a:bodyPr wrap="square" lIns="0" tIns="0" rIns="0" bIns="0" rtlCol="0" anchor="ctr"/>
          <a:lstStyle/>
          <a:p>
            <a:pPr indent="0" marL="0">
              <a:buNone/>
            </a:pPr>
            <a:r>
              <a:rPr lang="en-US" sz="1300" b="1" spc="240" kern="0" dirty="0">
                <a:solidFill>
                  <a:srgbClr val="058C9B"/>
                </a:solidFill>
                <a:latin typeface="Calibri" pitchFamily="34" charset="0"/>
                <a:ea typeface="Calibri" pitchFamily="34" charset="-122"/>
                <a:cs typeface="Calibri" pitchFamily="34" charset="-120"/>
              </a:rPr>
              <a:t>HOW FAST</a:t>
            </a:r>
            <a:endParaRPr lang="en-US" sz="1300" dirty="0"/>
          </a:p>
        </p:txBody>
      </p:sp>
      <p:sp>
        <p:nvSpPr>
          <p:cNvPr id="3" name="Text 1"/>
          <p:cNvSpPr/>
          <p:nvPr/>
        </p:nvSpPr>
        <p:spPr>
          <a:xfrm>
            <a:off x="822960" y="868680"/>
            <a:ext cx="10515600" cy="1051560"/>
          </a:xfrm>
          <a:prstGeom prst="rect">
            <a:avLst/>
          </a:prstGeom>
          <a:noFill/>
          <a:ln/>
        </p:spPr>
        <p:txBody>
          <a:bodyPr wrap="square" lIns="0" tIns="0" rIns="0" bIns="0" rtlCol="0" anchor="t"/>
          <a:lstStyle/>
          <a:p>
            <a:pPr indent="0" marL="0">
              <a:buNone/>
            </a:pPr>
            <a:r>
              <a:rPr lang="en-US" sz="4000" b="1" dirty="0">
                <a:solidFill>
                  <a:srgbClr val="0E2B33"/>
                </a:solidFill>
                <a:latin typeface="Cambria" pitchFamily="34" charset="0"/>
                <a:ea typeface="Cambria" pitchFamily="34" charset="-122"/>
                <a:cs typeface="Cambria" pitchFamily="34" charset="-120"/>
              </a:rPr>
              <a:t>22 of the 33 surfaced within six months</a:t>
            </a:r>
            <a:endParaRPr lang="en-US" sz="4000" dirty="0"/>
          </a:p>
        </p:txBody>
      </p:sp>
      <p:graphicFrame>
        <p:nvGraphicFramePr>
          <p:cNvPr id="4" name="Chart 0" descr=""/>
          <p:cNvGraphicFramePr/>
          <p:nvPr/>
        </p:nvGraphicFramePr>
        <p:xfrm>
          <a:off x="822960" y="2148840"/>
          <a:ext cx="6766560" cy="35661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092440" y="2148840"/>
            <a:ext cx="3246120" cy="3566160"/>
          </a:xfrm>
          <a:prstGeom prst="roundRect">
            <a:avLst>
              <a:gd name="adj" fmla="val 3380"/>
            </a:avLst>
          </a:prstGeom>
          <a:solidFill>
            <a:srgbClr val="F1F5F6"/>
          </a:solidFill>
          <a:ln/>
          <a:effectLst>
            <a:outerShdw sx="100000" sy="100000" kx="0" ky="0" algn="bl" rotWithShape="0" blurRad="127000" dist="635" dir="5400000">
              <a:srgbClr val="9AAEB5">
                <a:alpha val="35000"/>
              </a:srgbClr>
            </a:outerShdw>
          </a:effectLst>
        </p:spPr>
      </p:sp>
      <p:sp>
        <p:nvSpPr>
          <p:cNvPr id="6" name="Text 3"/>
          <p:cNvSpPr/>
          <p:nvPr/>
        </p:nvSpPr>
        <p:spPr>
          <a:xfrm>
            <a:off x="8366760" y="2423160"/>
            <a:ext cx="2743200" cy="365760"/>
          </a:xfrm>
          <a:prstGeom prst="rect">
            <a:avLst/>
          </a:prstGeom>
          <a:noFill/>
          <a:ln/>
        </p:spPr>
        <p:txBody>
          <a:bodyPr wrap="square" lIns="0" tIns="0" rIns="0" bIns="0" rtlCol="0" anchor="ctr"/>
          <a:lstStyle/>
          <a:p>
            <a:pPr indent="0" marL="0">
              <a:buNone/>
            </a:pPr>
            <a:r>
              <a:rPr lang="en-US" sz="1500" b="1" dirty="0">
                <a:solidFill>
                  <a:srgbClr val="058C9B"/>
                </a:solidFill>
                <a:latin typeface="Calibri" pitchFamily="34" charset="0"/>
                <a:ea typeface="Calibri" pitchFamily="34" charset="-122"/>
                <a:cs typeface="Calibri" pitchFamily="34" charset="-120"/>
              </a:rPr>
              <a:t>Why the spread?</a:t>
            </a:r>
            <a:endParaRPr lang="en-US" sz="1500" dirty="0"/>
          </a:p>
        </p:txBody>
      </p:sp>
      <p:sp>
        <p:nvSpPr>
          <p:cNvPr id="7" name="Text 4"/>
          <p:cNvSpPr/>
          <p:nvPr/>
        </p:nvSpPr>
        <p:spPr>
          <a:xfrm>
            <a:off x="8366760" y="2926080"/>
            <a:ext cx="2743200" cy="2651760"/>
          </a:xfrm>
          <a:prstGeom prst="rect">
            <a:avLst/>
          </a:prstGeom>
          <a:noFill/>
          <a:ln/>
        </p:spPr>
        <p:txBody>
          <a:bodyPr wrap="square" lIns="0" tIns="0" rIns="0" bIns="0" rtlCol="0" anchor="ctr"/>
          <a:lstStyle/>
          <a:p>
            <a:pPr indent="0" marL="0">
              <a:lnSpc>
                <a:spcPts val="1900"/>
              </a:lnSpc>
              <a:buNone/>
            </a:pPr>
            <a:r>
              <a:rPr lang="en-US" sz="1300" dirty="0">
                <a:solidFill>
                  <a:srgbClr val="0E2B33"/>
                </a:solidFill>
                <a:latin typeface="Calibri" pitchFamily="34" charset="0"/>
                <a:ea typeface="Calibri" pitchFamily="34" charset="-122"/>
                <a:cs typeface="Calibri" pitchFamily="34" charset="-120"/>
              </a:rPr>
              <a:t>Rare, distinctive reactions stand out immediately.</a:t>
            </a:r>
            <a:endParaRPr lang="en-US" sz="1300" dirty="0"/>
          </a:p>
          <a:p>
            <a:pPr indent="0" marL="0">
              <a:lnSpc>
                <a:spcPts val="1900"/>
              </a:lnSpc>
              <a:buNone/>
            </a:pPr>
            <a:endParaRPr lang="en-US" sz="1300" dirty="0"/>
          </a:p>
          <a:p>
            <a:pPr indent="0" marL="0">
              <a:lnSpc>
                <a:spcPts val="1900"/>
              </a:lnSpc>
              <a:buNone/>
            </a:pPr>
            <a:r>
              <a:rPr lang="en-US" sz="1300" dirty="0">
                <a:solidFill>
                  <a:srgbClr val="0E2B33"/>
                </a:solidFill>
                <a:latin typeface="Calibri" pitchFamily="34" charset="0"/>
                <a:ea typeface="Calibri" pitchFamily="34" charset="-122"/>
                <a:cs typeface="Calibri" pitchFamily="34" charset="-120"/>
              </a:rPr>
              <a:t>Common ones — like depression, reported with almost every drug — climb out of a noisier background.</a:t>
            </a:r>
            <a:endParaRPr lang="en-US" sz="1300" dirty="0"/>
          </a:p>
          <a:p>
            <a:pPr indent="0" marL="0">
              <a:lnSpc>
                <a:spcPts val="1900"/>
              </a:lnSpc>
              <a:buNone/>
            </a:pPr>
            <a:endParaRPr lang="en-US" sz="1300" dirty="0"/>
          </a:p>
          <a:p>
            <a:pPr indent="0" marL="0">
              <a:lnSpc>
                <a:spcPts val="1900"/>
              </a:lnSpc>
              <a:buNone/>
            </a:pPr>
            <a:r>
              <a:rPr lang="en-US" sz="1300" dirty="0">
                <a:solidFill>
                  <a:srgbClr val="0E2B33"/>
                </a:solidFill>
                <a:latin typeface="Calibri" pitchFamily="34" charset="0"/>
                <a:ea typeface="Calibri" pitchFamily="34" charset="-122"/>
                <a:cs typeface="Calibri" pitchFamily="34" charset="-120"/>
              </a:rPr>
              <a:t>The long tail is the weak signals: less excess reporting means more quarters of evidence needed.</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475488"/>
            <a:ext cx="10515600" cy="292608"/>
          </a:xfrm>
          <a:prstGeom prst="rect">
            <a:avLst/>
          </a:prstGeom>
          <a:noFill/>
          <a:ln/>
        </p:spPr>
        <p:txBody>
          <a:bodyPr wrap="square" lIns="0" tIns="0" rIns="0" bIns="0" rtlCol="0" anchor="ctr"/>
          <a:lstStyle/>
          <a:p>
            <a:pPr indent="0" marL="0">
              <a:buNone/>
            </a:pPr>
            <a:r>
              <a:rPr lang="en-US" sz="1300" b="1" spc="240" kern="0" dirty="0">
                <a:solidFill>
                  <a:srgbClr val="EF6351"/>
                </a:solidFill>
                <a:latin typeface="Calibri" pitchFamily="34" charset="0"/>
                <a:ea typeface="Calibri" pitchFamily="34" charset="-122"/>
                <a:cs typeface="Calibri" pitchFamily="34" charset="-120"/>
              </a:rPr>
              <a:t>INTELLECTUAL HONESTY</a:t>
            </a:r>
            <a:endParaRPr lang="en-US" sz="1300" dirty="0"/>
          </a:p>
        </p:txBody>
      </p:sp>
      <p:sp>
        <p:nvSpPr>
          <p:cNvPr id="3" name="Text 1"/>
          <p:cNvSpPr/>
          <p:nvPr/>
        </p:nvSpPr>
        <p:spPr>
          <a:xfrm>
            <a:off x="822960" y="868680"/>
            <a:ext cx="10515600" cy="1051560"/>
          </a:xfrm>
          <a:prstGeom prst="rect">
            <a:avLst/>
          </a:prstGeom>
          <a:noFill/>
          <a:ln/>
        </p:spPr>
        <p:txBody>
          <a:bodyPr wrap="square" lIns="0" tIns="0" rIns="0" bIns="0" rtlCol="0" anchor="t"/>
          <a:lstStyle/>
          <a:p>
            <a:pPr indent="0" marL="0">
              <a:buNone/>
            </a:pPr>
            <a:r>
              <a:rPr lang="en-US" sz="4000" b="1" dirty="0">
                <a:solidFill>
                  <a:srgbClr val="0E2B33"/>
                </a:solidFill>
                <a:latin typeface="Cambria" pitchFamily="34" charset="0"/>
                <a:ea typeface="Cambria" pitchFamily="34" charset="-122"/>
                <a:cs typeface="Cambria" pitchFamily="34" charset="-120"/>
              </a:rPr>
              <a:t>What this does not prove</a:t>
            </a:r>
            <a:endParaRPr lang="en-US" sz="4000" dirty="0"/>
          </a:p>
        </p:txBody>
      </p:sp>
      <p:sp>
        <p:nvSpPr>
          <p:cNvPr id="4" name="Shape 2"/>
          <p:cNvSpPr/>
          <p:nvPr/>
        </p:nvSpPr>
        <p:spPr>
          <a:xfrm>
            <a:off x="822960" y="2103120"/>
            <a:ext cx="566928" cy="566928"/>
          </a:xfrm>
          <a:prstGeom prst="ellipse">
            <a:avLst/>
          </a:prstGeom>
          <a:solidFill>
            <a:srgbClr val="EF6351"/>
          </a:solidFill>
          <a:ln/>
        </p:spPr>
      </p:sp>
      <p:sp>
        <p:nvSpPr>
          <p:cNvPr id="5" name="Text 3"/>
          <p:cNvSpPr/>
          <p:nvPr/>
        </p:nvSpPr>
        <p:spPr>
          <a:xfrm>
            <a:off x="822960" y="21031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Text 4"/>
          <p:cNvSpPr/>
          <p:nvPr/>
        </p:nvSpPr>
        <p:spPr>
          <a:xfrm>
            <a:off x="1600200" y="2057400"/>
            <a:ext cx="9509760" cy="457200"/>
          </a:xfrm>
          <a:prstGeom prst="rect">
            <a:avLst/>
          </a:prstGeom>
          <a:noFill/>
          <a:ln/>
        </p:spPr>
        <p:txBody>
          <a:bodyPr wrap="square" lIns="0" tIns="0" rIns="0" bIns="0" rtlCol="0" anchor="ctr"/>
          <a:lstStyle/>
          <a:p>
            <a:pPr indent="0" marL="0">
              <a:buNone/>
            </a:pPr>
            <a:r>
              <a:rPr lang="en-US" sz="2100" b="1" dirty="0">
                <a:solidFill>
                  <a:srgbClr val="0E2B33"/>
                </a:solidFill>
                <a:latin typeface="Calibri" pitchFamily="34" charset="0"/>
                <a:ea typeface="Calibri" pitchFamily="34" charset="-122"/>
                <a:cs typeface="Calibri" pitchFamily="34" charset="-120"/>
              </a:rPr>
              <a:t>These are not real-world findings</a:t>
            </a:r>
            <a:endParaRPr lang="en-US" sz="2100" dirty="0"/>
          </a:p>
        </p:txBody>
      </p:sp>
      <p:sp>
        <p:nvSpPr>
          <p:cNvPr id="7" name="Text 5"/>
          <p:cNvSpPr/>
          <p:nvPr/>
        </p:nvSpPr>
        <p:spPr>
          <a:xfrm>
            <a:off x="1600200" y="2542032"/>
            <a:ext cx="9509760" cy="777240"/>
          </a:xfrm>
          <a:prstGeom prst="rect">
            <a:avLst/>
          </a:prstGeom>
          <a:noFill/>
          <a:ln/>
        </p:spPr>
        <p:txBody>
          <a:bodyPr wrap="square" lIns="0" tIns="0" rIns="0" bIns="0" rtlCol="0" anchor="ctr"/>
          <a:lstStyle/>
          <a:p>
            <a:pPr indent="0" marL="0">
              <a:lnSpc>
                <a:spcPts val="2100"/>
              </a:lnSpc>
              <a:buNone/>
            </a:pPr>
            <a:r>
              <a:rPr lang="en-US" sz="1500" dirty="0">
                <a:solidFill>
                  <a:srgbClr val="5B7480"/>
                </a:solidFill>
                <a:latin typeface="Calibri" pitchFamily="34" charset="0"/>
                <a:ea typeface="Calibri" pitchFamily="34" charset="-122"/>
                <a:cs typeface="Calibri" pitchFamily="34" charset="-120"/>
              </a:rPr>
              <a:t>Every number here comes from a synthetic corpus with planted answers — the only way to compute a real precision figure or draw a detection curve at all. The same SQL runs on real FAERS; that run has not been done.</a:t>
            </a:r>
            <a:endParaRPr lang="en-US" sz="1500" dirty="0"/>
          </a:p>
        </p:txBody>
      </p:sp>
      <p:sp>
        <p:nvSpPr>
          <p:cNvPr id="8" name="Shape 6"/>
          <p:cNvSpPr/>
          <p:nvPr/>
        </p:nvSpPr>
        <p:spPr>
          <a:xfrm>
            <a:off x="822960" y="3429000"/>
            <a:ext cx="566928" cy="566928"/>
          </a:xfrm>
          <a:prstGeom prst="ellipse">
            <a:avLst/>
          </a:prstGeom>
          <a:solidFill>
            <a:srgbClr val="EF6351"/>
          </a:solidFill>
          <a:ln/>
        </p:spPr>
      </p:sp>
      <p:sp>
        <p:nvSpPr>
          <p:cNvPr id="9" name="Text 7"/>
          <p:cNvSpPr/>
          <p:nvPr/>
        </p:nvSpPr>
        <p:spPr>
          <a:xfrm>
            <a:off x="822960" y="342900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0" name="Text 8"/>
          <p:cNvSpPr/>
          <p:nvPr/>
        </p:nvSpPr>
        <p:spPr>
          <a:xfrm>
            <a:off x="1600200" y="3383280"/>
            <a:ext cx="9509760" cy="457200"/>
          </a:xfrm>
          <a:prstGeom prst="rect">
            <a:avLst/>
          </a:prstGeom>
          <a:noFill/>
          <a:ln/>
        </p:spPr>
        <p:txBody>
          <a:bodyPr wrap="square" lIns="0" tIns="0" rIns="0" bIns="0" rtlCol="0" anchor="ctr"/>
          <a:lstStyle/>
          <a:p>
            <a:pPr indent="0" marL="0">
              <a:buNone/>
            </a:pPr>
            <a:r>
              <a:rPr lang="en-US" sz="2100" b="1" dirty="0">
                <a:solidFill>
                  <a:srgbClr val="0E2B33"/>
                </a:solidFill>
                <a:latin typeface="Calibri" pitchFamily="34" charset="0"/>
                <a:ea typeface="Calibri" pitchFamily="34" charset="-122"/>
                <a:cs typeface="Calibri" pitchFamily="34" charset="-120"/>
              </a:rPr>
              <a:t>It is not proof of cause</a:t>
            </a:r>
            <a:endParaRPr lang="en-US" sz="2100" dirty="0"/>
          </a:p>
        </p:txBody>
      </p:sp>
      <p:sp>
        <p:nvSpPr>
          <p:cNvPr id="11" name="Text 9"/>
          <p:cNvSpPr/>
          <p:nvPr/>
        </p:nvSpPr>
        <p:spPr>
          <a:xfrm>
            <a:off x="1600200" y="3867912"/>
            <a:ext cx="9509760" cy="777240"/>
          </a:xfrm>
          <a:prstGeom prst="rect">
            <a:avLst/>
          </a:prstGeom>
          <a:noFill/>
          <a:ln/>
        </p:spPr>
        <p:txBody>
          <a:bodyPr wrap="square" lIns="0" tIns="0" rIns="0" bIns="0" rtlCol="0" anchor="ctr"/>
          <a:lstStyle/>
          <a:p>
            <a:pPr indent="0" marL="0">
              <a:lnSpc>
                <a:spcPts val="2100"/>
              </a:lnSpc>
              <a:buNone/>
            </a:pPr>
            <a:r>
              <a:rPr lang="en-US" sz="1500" dirty="0">
                <a:solidFill>
                  <a:srgbClr val="5B7480"/>
                </a:solidFill>
                <a:latin typeface="Calibri" pitchFamily="34" charset="0"/>
                <a:ea typeface="Calibri" pitchFamily="34" charset="-122"/>
                <a:cs typeface="Calibri" pitchFamily="34" charset="-120"/>
              </a:rPr>
              <a:t>The illness itself, news coverage, or lawsuits can all create the same pattern with no causal link whatsoever.</a:t>
            </a:r>
            <a:endParaRPr lang="en-US" sz="1500" dirty="0"/>
          </a:p>
        </p:txBody>
      </p:sp>
      <p:sp>
        <p:nvSpPr>
          <p:cNvPr id="12" name="Shape 10"/>
          <p:cNvSpPr/>
          <p:nvPr/>
        </p:nvSpPr>
        <p:spPr>
          <a:xfrm>
            <a:off x="822960" y="4754880"/>
            <a:ext cx="566928" cy="566928"/>
          </a:xfrm>
          <a:prstGeom prst="ellipse">
            <a:avLst/>
          </a:prstGeom>
          <a:solidFill>
            <a:srgbClr val="EF6351"/>
          </a:solidFill>
          <a:ln/>
        </p:spPr>
      </p:sp>
      <p:sp>
        <p:nvSpPr>
          <p:cNvPr id="13" name="Text 11"/>
          <p:cNvSpPr/>
          <p:nvPr/>
        </p:nvSpPr>
        <p:spPr>
          <a:xfrm>
            <a:off x="822960" y="47548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4" name="Text 12"/>
          <p:cNvSpPr/>
          <p:nvPr/>
        </p:nvSpPr>
        <p:spPr>
          <a:xfrm>
            <a:off x="1600200" y="4709160"/>
            <a:ext cx="9509760" cy="457200"/>
          </a:xfrm>
          <a:prstGeom prst="rect">
            <a:avLst/>
          </a:prstGeom>
          <a:noFill/>
          <a:ln/>
        </p:spPr>
        <p:txBody>
          <a:bodyPr wrap="square" lIns="0" tIns="0" rIns="0" bIns="0" rtlCol="0" anchor="ctr"/>
          <a:lstStyle/>
          <a:p>
            <a:pPr indent="0" marL="0">
              <a:buNone/>
            </a:pPr>
            <a:r>
              <a:rPr lang="en-US" sz="2100" b="1" dirty="0">
                <a:solidFill>
                  <a:srgbClr val="0E2B33"/>
                </a:solidFill>
                <a:latin typeface="Calibri" pitchFamily="34" charset="0"/>
                <a:ea typeface="Calibri" pitchFamily="34" charset="-122"/>
                <a:cs typeface="Calibri" pitchFamily="34" charset="-120"/>
              </a:rPr>
              <a:t>It cannot measure risk</a:t>
            </a:r>
            <a:endParaRPr lang="en-US" sz="2100" dirty="0"/>
          </a:p>
        </p:txBody>
      </p:sp>
      <p:sp>
        <p:nvSpPr>
          <p:cNvPr id="15" name="Text 13"/>
          <p:cNvSpPr/>
          <p:nvPr/>
        </p:nvSpPr>
        <p:spPr>
          <a:xfrm>
            <a:off x="1600200" y="5193792"/>
            <a:ext cx="9509760" cy="777240"/>
          </a:xfrm>
          <a:prstGeom prst="rect">
            <a:avLst/>
          </a:prstGeom>
          <a:noFill/>
          <a:ln/>
        </p:spPr>
        <p:txBody>
          <a:bodyPr wrap="square" lIns="0" tIns="0" rIns="0" bIns="0" rtlCol="0" anchor="ctr"/>
          <a:lstStyle/>
          <a:p>
            <a:pPr indent="0" marL="0">
              <a:lnSpc>
                <a:spcPts val="2100"/>
              </a:lnSpc>
              <a:buNone/>
            </a:pPr>
            <a:r>
              <a:rPr lang="en-US" sz="1500" dirty="0">
                <a:solidFill>
                  <a:srgbClr val="5B7480"/>
                </a:solidFill>
                <a:latin typeface="Calibri" pitchFamily="34" charset="0"/>
                <a:ea typeface="Calibri" pitchFamily="34" charset="-122"/>
                <a:cs typeface="Calibri" pitchFamily="34" charset="-120"/>
              </a:rPr>
              <a:t>Without knowing how many people took the drug safely, no percentage risk can be calculated from this data. Ever.</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475488"/>
            <a:ext cx="10515600" cy="292608"/>
          </a:xfrm>
          <a:prstGeom prst="rect">
            <a:avLst/>
          </a:prstGeom>
          <a:noFill/>
          <a:ln/>
        </p:spPr>
        <p:txBody>
          <a:bodyPr wrap="square" lIns="0" tIns="0" rIns="0" bIns="0" rtlCol="0" anchor="ctr"/>
          <a:lstStyle/>
          <a:p>
            <a:pPr indent="0" marL="0">
              <a:buNone/>
            </a:pPr>
            <a:r>
              <a:rPr lang="en-US" sz="1300" b="1" spc="240" kern="0" dirty="0">
                <a:solidFill>
                  <a:srgbClr val="EF6351"/>
                </a:solidFill>
                <a:latin typeface="Calibri" pitchFamily="34" charset="0"/>
                <a:ea typeface="Calibri" pitchFamily="34" charset="-122"/>
                <a:cs typeface="Calibri" pitchFamily="34" charset="-120"/>
              </a:rPr>
              <a:t>INTELLECTUAL HONESTY</a:t>
            </a:r>
            <a:endParaRPr lang="en-US" sz="1300" dirty="0"/>
          </a:p>
        </p:txBody>
      </p:sp>
      <p:sp>
        <p:nvSpPr>
          <p:cNvPr id="3" name="Text 1"/>
          <p:cNvSpPr/>
          <p:nvPr/>
        </p:nvSpPr>
        <p:spPr>
          <a:xfrm>
            <a:off x="822960" y="868680"/>
            <a:ext cx="10515600" cy="1051560"/>
          </a:xfrm>
          <a:prstGeom prst="rect">
            <a:avLst/>
          </a:prstGeom>
          <a:noFill/>
          <a:ln/>
        </p:spPr>
        <p:txBody>
          <a:bodyPr wrap="square" lIns="0" tIns="0" rIns="0" bIns="0" rtlCol="0" anchor="t"/>
          <a:lstStyle/>
          <a:p>
            <a:pPr indent="0" marL="0">
              <a:buNone/>
            </a:pPr>
            <a:r>
              <a:rPr lang="en-US" sz="4000" b="1" dirty="0">
                <a:solidFill>
                  <a:srgbClr val="0E2B33"/>
                </a:solidFill>
                <a:latin typeface="Cambria" pitchFamily="34" charset="0"/>
                <a:ea typeface="Cambria" pitchFamily="34" charset="-122"/>
                <a:cs typeface="Cambria" pitchFamily="34" charset="-120"/>
              </a:rPr>
              <a:t>What this does not prove (2 of 2)</a:t>
            </a:r>
            <a:endParaRPr lang="en-US" sz="4000" dirty="0"/>
          </a:p>
        </p:txBody>
      </p:sp>
      <p:sp>
        <p:nvSpPr>
          <p:cNvPr id="4" name="Shape 2"/>
          <p:cNvSpPr/>
          <p:nvPr/>
        </p:nvSpPr>
        <p:spPr>
          <a:xfrm>
            <a:off x="822960" y="2103120"/>
            <a:ext cx="566928" cy="566928"/>
          </a:xfrm>
          <a:prstGeom prst="ellipse">
            <a:avLst/>
          </a:prstGeom>
          <a:solidFill>
            <a:srgbClr val="EF6351"/>
          </a:solidFill>
          <a:ln/>
        </p:spPr>
      </p:sp>
      <p:sp>
        <p:nvSpPr>
          <p:cNvPr id="5" name="Text 3"/>
          <p:cNvSpPr/>
          <p:nvPr/>
        </p:nvSpPr>
        <p:spPr>
          <a:xfrm>
            <a:off x="822960" y="21031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Text 4"/>
          <p:cNvSpPr/>
          <p:nvPr/>
        </p:nvSpPr>
        <p:spPr>
          <a:xfrm>
            <a:off x="1600200" y="2057400"/>
            <a:ext cx="9509760" cy="457200"/>
          </a:xfrm>
          <a:prstGeom prst="rect">
            <a:avLst/>
          </a:prstGeom>
          <a:noFill/>
          <a:ln/>
        </p:spPr>
        <p:txBody>
          <a:bodyPr wrap="square" lIns="0" tIns="0" rIns="0" bIns="0" rtlCol="0" anchor="ctr"/>
          <a:lstStyle/>
          <a:p>
            <a:pPr indent="0" marL="0">
              <a:buNone/>
            </a:pPr>
            <a:r>
              <a:rPr lang="en-US" sz="2100" b="1" dirty="0">
                <a:solidFill>
                  <a:srgbClr val="0E2B33"/>
                </a:solidFill>
                <a:latin typeface="Calibri" pitchFamily="34" charset="0"/>
                <a:ea typeface="Calibri" pitchFamily="34" charset="-122"/>
                <a:cs typeface="Calibri" pitchFamily="34" charset="-120"/>
              </a:rPr>
              <a:t>It has not beaten the FDA</a:t>
            </a:r>
            <a:endParaRPr lang="en-US" sz="2100" dirty="0"/>
          </a:p>
        </p:txBody>
      </p:sp>
      <p:sp>
        <p:nvSpPr>
          <p:cNvPr id="7" name="Text 5"/>
          <p:cNvSpPr/>
          <p:nvPr/>
        </p:nvSpPr>
        <p:spPr>
          <a:xfrm>
            <a:off x="1600200" y="2542032"/>
            <a:ext cx="9509760" cy="777240"/>
          </a:xfrm>
          <a:prstGeom prst="rect">
            <a:avLst/>
          </a:prstGeom>
          <a:noFill/>
          <a:ln/>
        </p:spPr>
        <p:txBody>
          <a:bodyPr wrap="square" lIns="0" tIns="0" rIns="0" bIns="0" rtlCol="0" anchor="ctr"/>
          <a:lstStyle/>
          <a:p>
            <a:pPr indent="0" marL="0">
              <a:lnSpc>
                <a:spcPts val="2100"/>
              </a:lnSpc>
              <a:buNone/>
            </a:pPr>
            <a:r>
              <a:rPr lang="en-US" sz="1500" dirty="0">
                <a:solidFill>
                  <a:srgbClr val="5B7480"/>
                </a:solidFill>
                <a:latin typeface="Calibri" pitchFamily="34" charset="0"/>
                <a:ea typeface="Calibri" pitchFamily="34" charset="-122"/>
                <a:cs typeface="Calibri" pitchFamily="34" charset="-120"/>
              </a:rPr>
              <a:t>Regulators act on trials and expert panels, deliberately and slowly. A statistical screen seeing something first is expected, not better judgement.</a:t>
            </a:r>
            <a:endParaRPr lang="en-US" sz="1500" dirty="0"/>
          </a:p>
        </p:txBody>
      </p:sp>
      <p:sp>
        <p:nvSpPr>
          <p:cNvPr id="8" name="Shape 6"/>
          <p:cNvSpPr/>
          <p:nvPr/>
        </p:nvSpPr>
        <p:spPr>
          <a:xfrm>
            <a:off x="822960" y="3429000"/>
            <a:ext cx="566928" cy="566928"/>
          </a:xfrm>
          <a:prstGeom prst="ellipse">
            <a:avLst/>
          </a:prstGeom>
          <a:solidFill>
            <a:srgbClr val="EF6351"/>
          </a:solidFill>
          <a:ln/>
        </p:spPr>
      </p:sp>
      <p:sp>
        <p:nvSpPr>
          <p:cNvPr id="9" name="Text 7"/>
          <p:cNvSpPr/>
          <p:nvPr/>
        </p:nvSpPr>
        <p:spPr>
          <a:xfrm>
            <a:off x="822960" y="342900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10" name="Text 8"/>
          <p:cNvSpPr/>
          <p:nvPr/>
        </p:nvSpPr>
        <p:spPr>
          <a:xfrm>
            <a:off x="1600200" y="3383280"/>
            <a:ext cx="9509760" cy="457200"/>
          </a:xfrm>
          <a:prstGeom prst="rect">
            <a:avLst/>
          </a:prstGeom>
          <a:noFill/>
          <a:ln/>
        </p:spPr>
        <p:txBody>
          <a:bodyPr wrap="square" lIns="0" tIns="0" rIns="0" bIns="0" rtlCol="0" anchor="ctr"/>
          <a:lstStyle/>
          <a:p>
            <a:pPr indent="0" marL="0">
              <a:buNone/>
            </a:pPr>
            <a:r>
              <a:rPr lang="en-US" sz="2100" b="1" dirty="0">
                <a:solidFill>
                  <a:srgbClr val="0E2B33"/>
                </a:solidFill>
                <a:latin typeface="Calibri" pitchFamily="34" charset="0"/>
                <a:ea typeface="Calibri" pitchFamily="34" charset="-122"/>
                <a:cs typeface="Calibri" pitchFamily="34" charset="-120"/>
              </a:rPr>
              <a:t>It misses weak signals — and I can say which</a:t>
            </a:r>
            <a:endParaRPr lang="en-US" sz="2100" dirty="0"/>
          </a:p>
        </p:txBody>
      </p:sp>
      <p:sp>
        <p:nvSpPr>
          <p:cNvPr id="11" name="Text 9"/>
          <p:cNvSpPr/>
          <p:nvPr/>
        </p:nvSpPr>
        <p:spPr>
          <a:xfrm>
            <a:off x="1600200" y="3867912"/>
            <a:ext cx="9509760" cy="777240"/>
          </a:xfrm>
          <a:prstGeom prst="rect">
            <a:avLst/>
          </a:prstGeom>
          <a:noFill/>
          <a:ln/>
        </p:spPr>
        <p:txBody>
          <a:bodyPr wrap="square" lIns="0" tIns="0" rIns="0" bIns="0" rtlCol="0" anchor="ctr"/>
          <a:lstStyle/>
          <a:p>
            <a:pPr indent="0" marL="0">
              <a:lnSpc>
                <a:spcPts val="2100"/>
              </a:lnSpc>
              <a:buNone/>
            </a:pPr>
            <a:r>
              <a:rPr lang="en-US" sz="1500" dirty="0">
                <a:solidFill>
                  <a:srgbClr val="5B7480"/>
                </a:solidFill>
                <a:latin typeface="Calibri" pitchFamily="34" charset="0"/>
                <a:ea typeface="Calibri" pitchFamily="34" charset="-122"/>
                <a:cs typeface="Calibri" pitchFamily="34" charset="-120"/>
              </a:rPr>
              <a:t>Below a 7.5% injection rate it degrades sharply; at 3% and below it sees nothing. That is the price of the threshold keeping false alarms at zero.</a:t>
            </a:r>
            <a:endParaRPr lang="en-US" sz="1500" dirty="0"/>
          </a:p>
        </p:txBody>
      </p:sp>
      <p:sp>
        <p:nvSpPr>
          <p:cNvPr id="12" name="Shape 10"/>
          <p:cNvSpPr/>
          <p:nvPr/>
        </p:nvSpPr>
        <p:spPr>
          <a:xfrm>
            <a:off x="822960" y="4754880"/>
            <a:ext cx="566928" cy="566928"/>
          </a:xfrm>
          <a:prstGeom prst="ellipse">
            <a:avLst/>
          </a:prstGeom>
          <a:solidFill>
            <a:srgbClr val="EF6351"/>
          </a:solidFill>
          <a:ln/>
        </p:spPr>
      </p:sp>
      <p:sp>
        <p:nvSpPr>
          <p:cNvPr id="13" name="Text 11"/>
          <p:cNvSpPr/>
          <p:nvPr/>
        </p:nvSpPr>
        <p:spPr>
          <a:xfrm>
            <a:off x="822960" y="47548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6</a:t>
            </a:r>
            <a:endParaRPr lang="en-US" sz="2000" dirty="0"/>
          </a:p>
        </p:txBody>
      </p:sp>
      <p:sp>
        <p:nvSpPr>
          <p:cNvPr id="14" name="Text 12"/>
          <p:cNvSpPr/>
          <p:nvPr/>
        </p:nvSpPr>
        <p:spPr>
          <a:xfrm>
            <a:off x="1600200" y="4709160"/>
            <a:ext cx="9509760" cy="457200"/>
          </a:xfrm>
          <a:prstGeom prst="rect">
            <a:avLst/>
          </a:prstGeom>
          <a:noFill/>
          <a:ln/>
        </p:spPr>
        <p:txBody>
          <a:bodyPr wrap="square" lIns="0" tIns="0" rIns="0" bIns="0" rtlCol="0" anchor="ctr"/>
          <a:lstStyle/>
          <a:p>
            <a:pPr indent="0" marL="0">
              <a:buNone/>
            </a:pPr>
            <a:r>
              <a:rPr lang="en-US" sz="2100" b="1" dirty="0">
                <a:solidFill>
                  <a:srgbClr val="0E2B33"/>
                </a:solidFill>
                <a:latin typeface="Calibri" pitchFamily="34" charset="0"/>
                <a:ea typeface="Calibri" pitchFamily="34" charset="-122"/>
                <a:cs typeface="Calibri" pitchFamily="34" charset="-120"/>
              </a:rPr>
              <a:t>Zero false alarms is measured on today’s list</a:t>
            </a:r>
            <a:endParaRPr lang="en-US" sz="2100" dirty="0"/>
          </a:p>
        </p:txBody>
      </p:sp>
      <p:sp>
        <p:nvSpPr>
          <p:cNvPr id="15" name="Text 13"/>
          <p:cNvSpPr/>
          <p:nvPr/>
        </p:nvSpPr>
        <p:spPr>
          <a:xfrm>
            <a:off x="1600200" y="5193792"/>
            <a:ext cx="9509760" cy="777240"/>
          </a:xfrm>
          <a:prstGeom prst="rect">
            <a:avLst/>
          </a:prstGeom>
          <a:noFill/>
          <a:ln/>
        </p:spPr>
        <p:txBody>
          <a:bodyPr wrap="square" lIns="0" tIns="0" rIns="0" bIns="0" rtlCol="0" anchor="ctr"/>
          <a:lstStyle/>
          <a:p>
            <a:pPr indent="0" marL="0">
              <a:lnSpc>
                <a:spcPts val="2100"/>
              </a:lnSpc>
              <a:buNone/>
            </a:pPr>
            <a:r>
              <a:rPr lang="en-US" sz="1500" dirty="0">
                <a:solidFill>
                  <a:srgbClr val="5B7480"/>
                </a:solidFill>
                <a:latin typeface="Calibri" pitchFamily="34" charset="0"/>
                <a:ea typeface="Calibri" pitchFamily="34" charset="-122"/>
                <a:cs typeface="Calibri" pitchFamily="34" charset="-120"/>
              </a:rPr>
              <a:t>Across all 25 quarters, 3 unplanted pairs briefly crossed on thin early counts and fell back below. Ever-flagged precision is 33/36. Both numbers are published.</a:t>
            </a:r>
            <a:endParaRPr lang="en-US" sz="1500" dirty="0"/>
          </a:p>
        </p:txBody>
      </p:sp>
      <p:sp>
        <p:nvSpPr>
          <p:cNvPr id="16" name="Text 14"/>
          <p:cNvSpPr/>
          <p:nvPr/>
        </p:nvSpPr>
        <p:spPr>
          <a:xfrm>
            <a:off x="822960" y="6053328"/>
            <a:ext cx="10515600" cy="548640"/>
          </a:xfrm>
          <a:prstGeom prst="rect">
            <a:avLst/>
          </a:prstGeom>
          <a:noFill/>
          <a:ln/>
        </p:spPr>
        <p:txBody>
          <a:bodyPr wrap="square" lIns="0" tIns="0" rIns="0" bIns="0" rtlCol="0" anchor="ctr"/>
          <a:lstStyle/>
          <a:p>
            <a:pPr indent="0" marL="0">
              <a:buNone/>
            </a:pPr>
            <a:r>
              <a:rPr lang="en-US" sz="2200" b="1" dirty="0">
                <a:solidFill>
                  <a:srgbClr val="073B4C"/>
                </a:solidFill>
                <a:latin typeface="Cambria" pitchFamily="34" charset="0"/>
                <a:ea typeface="Cambria" pitchFamily="34" charset="-122"/>
                <a:cs typeface="Cambria" pitchFamily="34" charset="-120"/>
              </a:rPr>
              <a:t>This finds things worth looking at. It does not decide anything.</a:t>
            </a:r>
            <a:endParaRPr lang="en-US" sz="2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73B4C"/>
        </a:solidFill>
      </p:bgPr>
    </p:bg>
    <p:spTree>
      <p:nvGrpSpPr>
        <p:cNvPr id="1" name=""/>
        <p:cNvGrpSpPr/>
        <p:nvPr/>
      </p:nvGrpSpPr>
      <p:grpSpPr>
        <a:xfrm>
          <a:off x="0" y="0"/>
          <a:ext cx="0" cy="0"/>
          <a:chOff x="0" y="0"/>
          <a:chExt cx="0" cy="0"/>
        </a:xfrm>
      </p:grpSpPr>
      <p:sp>
        <p:nvSpPr>
          <p:cNvPr id="2" name="Shape 0"/>
          <p:cNvSpPr/>
          <p:nvPr/>
        </p:nvSpPr>
        <p:spPr>
          <a:xfrm>
            <a:off x="-1828800" y="3657600"/>
            <a:ext cx="5486400" cy="5486400"/>
          </a:xfrm>
          <a:prstGeom prst="ellipse">
            <a:avLst/>
          </a:prstGeom>
          <a:solidFill>
            <a:srgbClr val="0A4A5E"/>
          </a:solidFill>
          <a:ln/>
        </p:spPr>
      </p:sp>
      <p:sp>
        <p:nvSpPr>
          <p:cNvPr id="3" name="Text 1"/>
          <p:cNvSpPr/>
          <p:nvPr/>
        </p:nvSpPr>
        <p:spPr>
          <a:xfrm>
            <a:off x="822960" y="475488"/>
            <a:ext cx="10515600" cy="292608"/>
          </a:xfrm>
          <a:prstGeom prst="rect">
            <a:avLst/>
          </a:prstGeom>
          <a:noFill/>
          <a:ln/>
        </p:spPr>
        <p:txBody>
          <a:bodyPr wrap="square" lIns="0" tIns="0" rIns="0" bIns="0" rtlCol="0" anchor="ctr"/>
          <a:lstStyle/>
          <a:p>
            <a:pPr indent="0" marL="0">
              <a:buNone/>
            </a:pPr>
            <a:r>
              <a:rPr lang="en-US" sz="1300" b="1" spc="240" kern="0" dirty="0">
                <a:solidFill>
                  <a:srgbClr val="9FD8CB"/>
                </a:solidFill>
                <a:latin typeface="Calibri" pitchFamily="34" charset="0"/>
                <a:ea typeface="Calibri" pitchFamily="34" charset="-122"/>
                <a:cs typeface="Calibri" pitchFamily="34" charset="-120"/>
              </a:rPr>
              <a:t>IN ONE SENTENCE</a:t>
            </a:r>
            <a:endParaRPr lang="en-US" sz="1300" dirty="0"/>
          </a:p>
        </p:txBody>
      </p:sp>
      <p:sp>
        <p:nvSpPr>
          <p:cNvPr id="4" name="Text 2"/>
          <p:cNvSpPr/>
          <p:nvPr/>
        </p:nvSpPr>
        <p:spPr>
          <a:xfrm>
            <a:off x="822960" y="1371600"/>
            <a:ext cx="10515600" cy="2377440"/>
          </a:xfrm>
          <a:prstGeom prst="rect">
            <a:avLst/>
          </a:prstGeom>
          <a:noFill/>
          <a:ln/>
        </p:spPr>
        <p:txBody>
          <a:bodyPr wrap="square" lIns="0" tIns="0" rIns="0" bIns="0" rtlCol="0" anchor="ctr"/>
          <a:lstStyle/>
          <a:p>
            <a:pPr indent="0" marL="0">
              <a:lnSpc>
                <a:spcPts val="5200"/>
              </a:lnSpc>
              <a:buNone/>
            </a:pPr>
            <a:r>
              <a:rPr lang="en-US" sz="3600" b="1" dirty="0">
                <a:solidFill>
                  <a:srgbClr val="FFFFFF"/>
                </a:solidFill>
                <a:latin typeface="Cambria" pitchFamily="34" charset="0"/>
                <a:ea typeface="Cambria" pitchFamily="34" charset="-122"/>
                <a:cs typeface="Cambria" pitchFamily="34" charset="-120"/>
              </a:rPr>
              <a:t>A database that reads millions of</a:t>
            </a:r>
            <a:endParaRPr lang="en-US" sz="3600" dirty="0"/>
          </a:p>
          <a:p>
            <a:pPr indent="0" marL="0">
              <a:lnSpc>
                <a:spcPts val="5200"/>
              </a:lnSpc>
              <a:buNone/>
            </a:pPr>
            <a:r>
              <a:rPr lang="en-US" sz="3600" b="1" dirty="0">
                <a:solidFill>
                  <a:srgbClr val="FFFFFF"/>
                </a:solidFill>
                <a:latin typeface="Cambria" pitchFamily="34" charset="0"/>
                <a:ea typeface="Cambria" pitchFamily="34" charset="-122"/>
                <a:cs typeface="Cambria" pitchFamily="34" charset="-120"/>
              </a:rPr>
              <a:t>side-effect reports and points at the</a:t>
            </a:r>
            <a:endParaRPr lang="en-US" sz="3600" dirty="0"/>
          </a:p>
          <a:p>
            <a:pPr indent="0" marL="0">
              <a:lnSpc>
                <a:spcPts val="5200"/>
              </a:lnSpc>
              <a:buNone/>
            </a:pPr>
            <a:r>
              <a:rPr lang="en-US" sz="3600" b="1" dirty="0">
                <a:solidFill>
                  <a:srgbClr val="FFFFFF"/>
                </a:solidFill>
                <a:latin typeface="Cambria" pitchFamily="34" charset="0"/>
                <a:ea typeface="Cambria" pitchFamily="34" charset="-122"/>
                <a:cs typeface="Cambria" pitchFamily="34" charset="-120"/>
              </a:rPr>
              <a:t>handful worth a human's attention.</a:t>
            </a:r>
            <a:endParaRPr lang="en-US" sz="3600" dirty="0"/>
          </a:p>
        </p:txBody>
      </p:sp>
      <p:sp>
        <p:nvSpPr>
          <p:cNvPr id="5" name="Shape 3"/>
          <p:cNvSpPr/>
          <p:nvPr/>
        </p:nvSpPr>
        <p:spPr>
          <a:xfrm>
            <a:off x="822960" y="4343400"/>
            <a:ext cx="3246120" cy="1234440"/>
          </a:xfrm>
          <a:prstGeom prst="roundRect">
            <a:avLst>
              <a:gd name="adj" fmla="val 8889"/>
            </a:avLst>
          </a:prstGeom>
          <a:solidFill>
            <a:srgbClr val="0A4A5E"/>
          </a:solidFill>
          <a:ln/>
        </p:spPr>
      </p:sp>
      <p:sp>
        <p:nvSpPr>
          <p:cNvPr id="6" name="Text 4"/>
          <p:cNvSpPr/>
          <p:nvPr/>
        </p:nvSpPr>
        <p:spPr>
          <a:xfrm>
            <a:off x="960120" y="4526280"/>
            <a:ext cx="297180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MySQL</a:t>
            </a:r>
            <a:endParaRPr lang="en-US" sz="2000" dirty="0"/>
          </a:p>
        </p:txBody>
      </p:sp>
      <p:sp>
        <p:nvSpPr>
          <p:cNvPr id="7" name="Text 5"/>
          <p:cNvSpPr/>
          <p:nvPr/>
        </p:nvSpPr>
        <p:spPr>
          <a:xfrm>
            <a:off x="960120" y="4983480"/>
            <a:ext cx="2971800" cy="457200"/>
          </a:xfrm>
          <a:prstGeom prst="rect">
            <a:avLst/>
          </a:prstGeom>
          <a:noFill/>
          <a:ln/>
        </p:spPr>
        <p:txBody>
          <a:bodyPr wrap="square" lIns="0" tIns="0" rIns="0" bIns="0" rtlCol="0" anchor="ctr"/>
          <a:lstStyle/>
          <a:p>
            <a:pPr algn="ctr" indent="0" marL="0">
              <a:buNone/>
            </a:pPr>
            <a:r>
              <a:rPr lang="en-US" sz="1400" dirty="0">
                <a:solidFill>
                  <a:srgbClr val="9FD8CB"/>
                </a:solidFill>
                <a:latin typeface="Calibri" pitchFamily="34" charset="0"/>
                <a:ea typeface="Calibri" pitchFamily="34" charset="-122"/>
                <a:cs typeface="Calibri" pitchFamily="34" charset="-120"/>
              </a:rPr>
              <a:t>warehouse + all statistics</a:t>
            </a:r>
            <a:endParaRPr lang="en-US" sz="1400" dirty="0"/>
          </a:p>
        </p:txBody>
      </p:sp>
      <p:sp>
        <p:nvSpPr>
          <p:cNvPr id="8" name="Shape 6"/>
          <p:cNvSpPr/>
          <p:nvPr/>
        </p:nvSpPr>
        <p:spPr>
          <a:xfrm>
            <a:off x="4434840" y="4343400"/>
            <a:ext cx="3246120" cy="1234440"/>
          </a:xfrm>
          <a:prstGeom prst="roundRect">
            <a:avLst>
              <a:gd name="adj" fmla="val 8889"/>
            </a:avLst>
          </a:prstGeom>
          <a:solidFill>
            <a:srgbClr val="0A4A5E"/>
          </a:solidFill>
          <a:ln/>
        </p:spPr>
      </p:sp>
      <p:sp>
        <p:nvSpPr>
          <p:cNvPr id="9" name="Text 7"/>
          <p:cNvSpPr/>
          <p:nvPr/>
        </p:nvSpPr>
        <p:spPr>
          <a:xfrm>
            <a:off x="4572000" y="4526280"/>
            <a:ext cx="297180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Power BI</a:t>
            </a:r>
            <a:endParaRPr lang="en-US" sz="2000" dirty="0"/>
          </a:p>
        </p:txBody>
      </p:sp>
      <p:sp>
        <p:nvSpPr>
          <p:cNvPr id="10" name="Text 8"/>
          <p:cNvSpPr/>
          <p:nvPr/>
        </p:nvSpPr>
        <p:spPr>
          <a:xfrm>
            <a:off x="4572000" y="4983480"/>
            <a:ext cx="2971800" cy="457200"/>
          </a:xfrm>
          <a:prstGeom prst="rect">
            <a:avLst/>
          </a:prstGeom>
          <a:noFill/>
          <a:ln/>
        </p:spPr>
        <p:txBody>
          <a:bodyPr wrap="square" lIns="0" tIns="0" rIns="0" bIns="0" rtlCol="0" anchor="ctr"/>
          <a:lstStyle/>
          <a:p>
            <a:pPr algn="ctr" indent="0" marL="0">
              <a:buNone/>
            </a:pPr>
            <a:r>
              <a:rPr lang="en-US" sz="1400" dirty="0">
                <a:solidFill>
                  <a:srgbClr val="9FD8CB"/>
                </a:solidFill>
                <a:latin typeface="Calibri" pitchFamily="34" charset="0"/>
                <a:ea typeface="Calibri" pitchFamily="34" charset="-122"/>
                <a:cs typeface="Calibri" pitchFamily="34" charset="-120"/>
              </a:rPr>
              <a:t>analyst dashboard</a:t>
            </a:r>
            <a:endParaRPr lang="en-US" sz="1400" dirty="0"/>
          </a:p>
        </p:txBody>
      </p:sp>
      <p:sp>
        <p:nvSpPr>
          <p:cNvPr id="11" name="Shape 9"/>
          <p:cNvSpPr/>
          <p:nvPr/>
        </p:nvSpPr>
        <p:spPr>
          <a:xfrm>
            <a:off x="8046720" y="4343400"/>
            <a:ext cx="3246120" cy="1234440"/>
          </a:xfrm>
          <a:prstGeom prst="roundRect">
            <a:avLst>
              <a:gd name="adj" fmla="val 8889"/>
            </a:avLst>
          </a:prstGeom>
          <a:solidFill>
            <a:srgbClr val="0A4A5E"/>
          </a:solidFill>
          <a:ln/>
        </p:spPr>
      </p:sp>
      <p:sp>
        <p:nvSpPr>
          <p:cNvPr id="12" name="Text 10"/>
          <p:cNvSpPr/>
          <p:nvPr/>
        </p:nvSpPr>
        <p:spPr>
          <a:xfrm>
            <a:off x="8183880" y="4526280"/>
            <a:ext cx="297180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Python</a:t>
            </a:r>
            <a:endParaRPr lang="en-US" sz="2000" dirty="0"/>
          </a:p>
        </p:txBody>
      </p:sp>
      <p:sp>
        <p:nvSpPr>
          <p:cNvPr id="13" name="Text 11"/>
          <p:cNvSpPr/>
          <p:nvPr/>
        </p:nvSpPr>
        <p:spPr>
          <a:xfrm>
            <a:off x="8183880" y="4983480"/>
            <a:ext cx="2971800" cy="457200"/>
          </a:xfrm>
          <a:prstGeom prst="rect">
            <a:avLst/>
          </a:prstGeom>
          <a:noFill/>
          <a:ln/>
        </p:spPr>
        <p:txBody>
          <a:bodyPr wrap="square" lIns="0" tIns="0" rIns="0" bIns="0" rtlCol="0" anchor="ctr"/>
          <a:lstStyle/>
          <a:p>
            <a:pPr algn="ctr" indent="0" marL="0">
              <a:buNone/>
            </a:pPr>
            <a:r>
              <a:rPr lang="en-US" sz="1400" dirty="0">
                <a:solidFill>
                  <a:srgbClr val="9FD8CB"/>
                </a:solidFill>
                <a:latin typeface="Calibri" pitchFamily="34" charset="0"/>
                <a:ea typeface="Calibri" pitchFamily="34" charset="-122"/>
                <a:cs typeface="Calibri" pitchFamily="34" charset="-120"/>
              </a:rPr>
              <a:t>file loading only</a:t>
            </a:r>
            <a:endParaRPr lang="en-US" sz="1400" dirty="0"/>
          </a:p>
        </p:txBody>
      </p:sp>
      <p:sp>
        <p:nvSpPr>
          <p:cNvPr id="14" name="Text 12"/>
          <p:cNvSpPr/>
          <p:nvPr/>
        </p:nvSpPr>
        <p:spPr>
          <a:xfrm>
            <a:off x="822960" y="5943600"/>
            <a:ext cx="10515600" cy="365760"/>
          </a:xfrm>
          <a:prstGeom prst="rect">
            <a:avLst/>
          </a:prstGeom>
          <a:noFill/>
          <a:ln/>
        </p:spPr>
        <p:txBody>
          <a:bodyPr wrap="square" lIns="0" tIns="0" rIns="0" bIns="0" rtlCol="0" anchor="ctr"/>
          <a:lstStyle/>
          <a:p>
            <a:pPr indent="0" marL="0">
              <a:buNone/>
            </a:pPr>
            <a:r>
              <a:rPr lang="en-US" sz="1400" dirty="0">
                <a:solidFill>
                  <a:srgbClr val="6E9AA8"/>
                </a:solidFill>
                <a:latin typeface="Calibri" pitchFamily="34" charset="0"/>
                <a:ea typeface="Calibri" pitchFamily="34" charset="-122"/>
                <a:cs typeface="Calibri" pitchFamily="34" charset="-120"/>
              </a:rPr>
              <a:t>github.com/sanjay2002salvi-afk/Adverse-Event-Global-Intelligence-System</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2026-09-02T23:35:35Z</dcterms:created>
  <dcterms:modified xsi:type="dcterms:W3CDTF">2026-09-02T23:35:35Z</dcterms:modified>
</cp:coreProperties>
</file>